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5B50FE0-5551-5E23-B9E5-85335D783FE9}">
          <p14:sldIdLst>
            <p14:sldId id="256"/>
          </p14:sldIdLst>
        </p14:section>
        <p14:section name="Project" id="{DD29F203-2BE5-25EF-BC5B-971BEB084C91}">
          <p14:sldIdLst>
            <p14:sldId id="257"/>
            <p14:sldId id="258"/>
            <p14:sldId id="259"/>
          </p14:sldIdLst>
        </p14:section>
        <p14:section name="System" id="{06299C1D-A167-77A2-D769-03B01D8849E6}">
          <p14:sldIdLst>
            <p14:sldId id="260"/>
            <p14:sldId id="261"/>
            <p14:sldId id="262"/>
          </p14:sldIdLst>
        </p14:section>
        <p14:section name="My hardware work" id="{23A0C3AC-8586-DF69-5867-144E2366C890}">
          <p14:sldIdLst>
            <p14:sldId id="263"/>
            <p14:sldId id="264"/>
            <p14:sldId id="265"/>
          </p14:sldIdLst>
        </p14:section>
        <p14:section name="Results" id="{346948DC-27F1-9493-3390-1EAD7EF4B2D0}">
          <p14:sldIdLst>
            <p14:sldId id="266"/>
            <p14:sldId id="267"/>
            <p14:sldId id="268"/>
          </p14:sldIdLst>
        </p14:section>
        <p14:section name="Close" id="{7A5958A6-8EAA-0A95-EA3B-1DB4AC816EA2}">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6C8F5E-B444-46D3-8CE0-C035B11C9615}" v="44" dt="2026-10-18T04:33:19.4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16241D"/>
                </a:solidFill>
                <a:latin typeface="+mn-lt"/>
              </a:defRPr>
            </a:pPr>
            <a:r>
              <a:rPr lang="en-GB" sz="1400" b="0" i="0" u="none" strike="noStrike">
                <a:solidFill>
                  <a:srgbClr val="16241D"/>
                </a:solidFill>
                <a:latin typeface="+mn-lt"/>
              </a:rPr>
              <a:t>Hours logged in each fortnightly report</a:t>
            </a:r>
          </a:p>
        </c:rich>
      </c:tx>
      <c:overlay val="0"/>
    </c:title>
    <c:autoTitleDeleted val="0"/>
    <c:plotArea>
      <c:layout/>
      <c:barChart>
        <c:barDir val="col"/>
        <c:grouping val="clustered"/>
        <c:varyColors val="0"/>
        <c:ser>
          <c:idx val="0"/>
          <c:order val="0"/>
          <c:tx>
            <c:strRef>
              <c:f>Sheet1!$B$1</c:f>
              <c:strCache>
                <c:ptCount val="1"/>
                <c:pt idx="0">
                  <c:v>Hours</c:v>
                </c:pt>
              </c:strCache>
            </c:strRef>
          </c:tx>
          <c:spPr>
            <a:solidFill>
              <a:srgbClr val="1F4D3A"/>
            </a:solidFill>
            <a:effectLst/>
          </c:spPr>
          <c:invertIfNegative val="0"/>
          <c:dLbls>
            <c:numFmt formatCode="#,##0" sourceLinked="0"/>
            <c:spPr>
              <a:noFill/>
              <a:ln>
                <a:noFill/>
              </a:ln>
              <a:effectLst/>
            </c:spPr>
            <c:txPr>
              <a:bodyPr/>
              <a:lstStyle/>
              <a:p>
                <a:pPr>
                  <a:defRPr sz="1200" b="0" i="0" u="none" strike="noStrike">
                    <a:solidFill>
                      <a:srgbClr val="16241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1-15 Jul</c:v>
                </c:pt>
                <c:pt idx="1">
                  <c:v>15-31 Jul</c:v>
                </c:pt>
                <c:pt idx="2">
                  <c:v>1-15 Aug</c:v>
                </c:pt>
                <c:pt idx="3">
                  <c:v>16-31 Aug</c:v>
                </c:pt>
                <c:pt idx="4">
                  <c:v>1-15 Sep</c:v>
                </c:pt>
                <c:pt idx="5">
                  <c:v>15-30 Sep</c:v>
                </c:pt>
                <c:pt idx="6">
                  <c:v>1-17 Oct</c:v>
                </c:pt>
              </c:strCache>
            </c:strRef>
          </c:cat>
          <c:val>
            <c:numRef>
              <c:f>Sheet1!$B$2:$B$8</c:f>
              <c:numCache>
                <c:formatCode>General</c:formatCode>
                <c:ptCount val="7"/>
                <c:pt idx="0">
                  <c:v>2</c:v>
                </c:pt>
                <c:pt idx="1">
                  <c:v>17</c:v>
                </c:pt>
                <c:pt idx="2">
                  <c:v>31</c:v>
                </c:pt>
                <c:pt idx="3">
                  <c:v>16</c:v>
                </c:pt>
                <c:pt idx="4">
                  <c:v>25</c:v>
                </c:pt>
                <c:pt idx="5">
                  <c:v>21</c:v>
                </c:pt>
                <c:pt idx="6">
                  <c:v>11</c:v>
                </c:pt>
              </c:numCache>
            </c:numRef>
          </c:val>
          <c:extLst>
            <c:ext xmlns:c16="http://schemas.microsoft.com/office/drawing/2014/chart" uri="{C3380CC4-5D6E-409C-BE32-E72D297353CC}">
              <c16:uniqueId val="{00000000-6459-4E0F-B04B-C65F7148459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F76"/>
                </a:solidFill>
                <a:latin typeface="+mn-lt"/>
              </a:defRPr>
            </a:pPr>
            <a:endParaRPr lang="en-US"/>
          </a:p>
        </c:txPr>
        <c:crossAx val="2094734552"/>
        <c:crosses val="autoZero"/>
        <c:auto val="1"/>
        <c:lblAlgn val="ctr"/>
        <c:lblOffset val="100"/>
        <c:noMultiLvlLbl val="1"/>
      </c:catAx>
      <c:valAx>
        <c:axId val="2094734552"/>
        <c:scaling>
          <c:orientation val="minMax"/>
          <c:max val="40"/>
        </c:scaling>
        <c:delete val="0"/>
        <c:axPos val="l"/>
        <c:majorGridlines>
          <c:spPr>
            <a:ln w="6350" cap="flat">
              <a:solidFill>
                <a:srgbClr val="E1E8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7F7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AD7A3D60-4CC9-4774-B241-3FF9042D7158}" type="datetimeFigureOut">
              <a:t>17/10/2026</a:t>
            </a:fld>
            <a:endParaRPr lang="en-GB"/>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76BD3DC-0E28-4471-B386-D748537A6866}" type="slidenum">
              <a:t>‹#›</a:t>
            </a:fld>
            <a:endParaRPr lang="en-GB"/>
          </a:p>
        </p:txBody>
      </p:sp>
    </p:spTree>
    <p:extLst>
      <p:ext uri="{BB962C8B-B14F-4D97-AF65-F5344CB8AC3E}">
        <p14:creationId xmlns:p14="http://schemas.microsoft.com/office/powerpoint/2010/main" val="2367382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15, SEER BHARAT. Order of the talk: the NGO and the problem, how the whole system works, the team-built app and portal, then my own hardware work in three parts, the test results, how we protect animals and data, and finally the challenges and next steps. Everything shown is a prototype: the app displays demo records only, and the field node has been exercised in a simulator, not in a forest.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NGO asked us to look at how technology can help people and the environment. We picked human-wildlife safety because warnings reach villagers late and the forest has no reliable network. My part is hardware and coding, together with Aditya Shelar; Amit, Akshat and Lakshya built the app and portal, and Lakshya led the research and planning. The 123 hours are recorded in my signed time log.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problems came out of our early meetings with Mr. Talhande and the first weeks of research. They explain every design choice later: radio and SMS because of poor network, solar power because of no mains supply, and a blurred public map because a precise position can put animals in danger.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line left to right. The first month was understanding the NGO and choosing a topic. September was the busiest software month, with the camera, alert and SMS screens and the live map. Late September and October moved to the hardware: research, circuit, solar power, code and tests. The bar chart uses the hours in each fortnightly progress report; they add up to 123.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node watches with four inputs. The ESP32 turns the camera, vibration and sound readings into one score, writes the event to an SD card, and sends it by LoRa to a gateway. Where residents have no internet, a GSM module sends an SMS instead. The gateway decoder passes records on to the resident app and the staff portal. A solar panel, charge controller and battery keep it running without mains power.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meant to protect people first, but also the animals, because a late or vague warning often leads to panic and retaliation. The SDG links are our own mapping of the project to the goals, not an official classification.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Amit Pawar, Akshat Chandekar and Lakshya Saxena built this frontend. It has a public side and a forest-staff side. The camera report, alert list and live map are working screens, but they run on sample data. Notice the map banner: residents get a rough danger area, while the precise spot stays with forest staff. I include it because the hardware I built is what will eventually feed these screens.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week 6 the main worry was whether our parts could compete with ordinary systems, and whether they were compatible. By week 10 I had researched which boards run AI well and survive outdoors. In week 11 I studied how nodes would work as a cluster and talk to real LoRa towers, and I collected ready-made libraries so I could begin prototyping.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wires carry power, black wires ground, and the other colours carry signals. The solar panel and its controller are drawn in the upper right corner. Most of week 12 went into finding libraries that work with the chosen hardware. The plan was to prove everything in the simulator before buying parts, and an electrical engineer examined the design and approach the following week.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start-up the node prints a banner and a self-check, then keeps printing two kinds of lines. The FUSE line lists the vision, ground-vibration and sound readings together with the winning score, where 0.00 means nothing was spotted. The STATUS line reports the battery, whether the GPS has a fix, and the vibration flag. The final coding was completed and tested part by part in week 13, and the NGO document set was prepared in week 14.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each part separately instead of trusting a single run. The start-up check, GPS and fusion behaved as expected. In the run I captured, the GSM module had not become ready, and the LoRa model printed an unknown-opcode message; I logged both as jobs for the driver stage rather than passes. These are honest limits: the right-hand box lists what still has to happen before any alert can be trusted.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groups need protecting here. Animals can be harmed if their exact position is public, and villagers should not be forced to share their location. That is why residents see only a rough area and the precise position is kept for forest staff. The prototype stores no real personal data. A real rollout would need secure accounts and field validation first.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challenge, network range, shaped the whole architecture. Detection reliability and camera capture on a low-power node were open concerns we noted in our report, and combining several evidence streams is one way we addressed them. The panel on the right sums up what the project taught us.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NGO now has a settled workflow, working app and portal screens, a reviewed hardware design with its code, and a document set it can use on its own. The next steps all concern moving from simulation to the field. Thank you to Mr. Talhande for guiding the project, to Dr. Saxena for the programme, and to my teammates.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914400"/>
            <a:ext cx="6583680" cy="365760"/>
          </a:xfrm>
          <a:prstGeom prst="rect">
            <a:avLst/>
          </a:prstGeom>
          <a:noFill/>
          <a:ln/>
        </p:spPr>
        <p:txBody>
          <a:bodyPr wrap="square" rtlCol="0"/>
          <a:lstStyle>
            <a:lvl1pPr marL="0" indent="0" algn="l">
              <a:buNone/>
              <a:defRPr lang="en-US" sz="1600" b="1" dirty="0">
                <a:solidFill>
                  <a:schemeClr val="accent2"/>
                </a:solidFill>
              </a:defRPr>
            </a:lvl1pPr>
          </a:lstStyle>
          <a:p>
            <a:pPr marL="0" indent="0" algn="l">
              <a:buNone/>
            </a:pPr>
            <a:endParaRPr lang="en-US" sz="1600" dirty="0"/>
          </a:p>
        </p:txBody>
      </p:sp>
      <p:sp>
        <p:nvSpPr>
          <p:cNvPr id="3" name="Text 0"/>
          <p:cNvSpPr>
            <a:spLocks noGrp="1"/>
          </p:cNvSpPr>
          <p:nvPr>
            <p:ph type="title" idx="101" hasCustomPrompt="1"/>
          </p:nvPr>
        </p:nvSpPr>
        <p:spPr>
          <a:xfrm>
            <a:off x="731520" y="1417320"/>
            <a:ext cx="6766560" cy="21031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731520" y="3611880"/>
            <a:ext cx="6400800" cy="86868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Group 15  |  SEER BHARAT  |  Service Learning 2026-27</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411480"/>
            <a:ext cx="6583680" cy="365760"/>
          </a:xfrm>
          <a:prstGeom prst="rect">
            <a:avLst/>
          </a:prstGeom>
          <a:noFill/>
          <a:ln/>
        </p:spPr>
        <p:txBody>
          <a:bodyPr wrap="square" rtlCol="0"/>
          <a:lstStyle>
            <a:lvl1pPr marL="0" indent="0" algn="l">
              <a:buNone/>
              <a:defRPr lang="en-US" sz="1600" b="1" dirty="0">
                <a:solidFill>
                  <a:schemeClr val="accent2"/>
                </a:solidFill>
              </a:defRPr>
            </a:lvl1pPr>
          </a:lstStyle>
          <a:p>
            <a:pPr marL="0" indent="0" algn="l">
              <a:buNone/>
            </a:pPr>
            <a:endParaRPr lang="en-US" sz="1600" dirty="0"/>
          </a:p>
        </p:txBody>
      </p:sp>
      <p:sp>
        <p:nvSpPr>
          <p:cNvPr id="3" name="Text 0"/>
          <p:cNvSpPr>
            <a:spLocks noGrp="1"/>
          </p:cNvSpPr>
          <p:nvPr>
            <p:ph type="title" idx="101" hasCustomPrompt="1"/>
          </p:nvPr>
        </p:nvSpPr>
        <p:spPr>
          <a:xfrm>
            <a:off x="731520" y="868680"/>
            <a:ext cx="10698480" cy="82296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914400"/>
            <a:ext cx="6583680" cy="365760"/>
          </a:xfrm>
          <a:prstGeom prst="rect">
            <a:avLst/>
          </a:prstGeom>
          <a:noFill/>
          <a:ln/>
        </p:spPr>
        <p:txBody>
          <a:bodyPr wrap="square" lIns="0" tIns="0" rIns="0" bIns="0" rtlCol="0"/>
          <a:lstStyle/>
          <a:p>
            <a:pPr marL="0" indent="0" algn="l">
              <a:buNone/>
            </a:pPr>
            <a:r>
              <a:rPr lang="en-US" sz="1600" b="1" dirty="0">
                <a:solidFill>
                  <a:schemeClr val="accent2"/>
                </a:solidFill>
              </a:rPr>
              <a:t>Service Learning, AY 2026-27  ·  Group 15</a:t>
            </a:r>
            <a:endParaRPr lang="en-US" sz="1600" dirty="0"/>
          </a:p>
        </p:txBody>
      </p:sp>
      <p:sp>
        <p:nvSpPr>
          <p:cNvPr id="3" name="Text 0"/>
          <p:cNvSpPr>
            <a:spLocks noGrp="1"/>
          </p:cNvSpPr>
          <p:nvPr>
            <p:ph type="title" idx="101" hasCustomPrompt="1"/>
          </p:nvPr>
        </p:nvSpPr>
        <p:spPr>
          <a:xfrm>
            <a:off x="731520" y="1417320"/>
            <a:ext cx="6766560" cy="2103120"/>
          </a:xfrm>
          <a:prstGeom prst="rect">
            <a:avLst/>
          </a:prstGeom>
          <a:noFill/>
          <a:ln/>
        </p:spPr>
        <p:txBody>
          <a:bodyPr wrap="square" lIns="0" tIns="0" rIns="0" bIns="0" rtlCol="0" anchor="t"/>
          <a:lstStyle/>
          <a:p>
            <a:pPr marL="0" indent="0" algn="l">
              <a:buNone/>
            </a:pPr>
            <a:r>
              <a:rPr lang="en-US" sz="4400" b="1" dirty="0">
                <a:solidFill>
                  <a:schemeClr val="bg1"/>
                </a:solidFill>
              </a:rPr>
              <a:t>SEER BHARAT: an early-warning prototype for forest-edge villages</a:t>
            </a:r>
            <a:endParaRPr lang="en-US" sz="4400" dirty="0"/>
          </a:p>
        </p:txBody>
      </p:sp>
      <p:sp>
        <p:nvSpPr>
          <p:cNvPr id="4" name="Text 0"/>
          <p:cNvSpPr>
            <a:spLocks noGrp="1"/>
          </p:cNvSpPr>
          <p:nvPr>
            <p:ph type="body" idx="102" hasCustomPrompt="1"/>
          </p:nvPr>
        </p:nvSpPr>
        <p:spPr>
          <a:xfrm>
            <a:off x="731520" y="3611880"/>
            <a:ext cx="6400800" cy="868680"/>
          </a:xfrm>
          <a:prstGeom prst="rect">
            <a:avLst/>
          </a:prstGeom>
          <a:noFill/>
          <a:ln/>
        </p:spPr>
        <p:txBody>
          <a:bodyPr wrap="square" lIns="0" tIns="0" rIns="0" bIns="0" rtlCol="0" anchor="t"/>
          <a:lstStyle/>
          <a:p>
            <a:pPr marL="0" indent="0" algn="l">
              <a:buNone/>
            </a:pPr>
            <a:r>
              <a:rPr lang="en-US" sz="1800" dirty="0">
                <a:solidFill>
                  <a:schemeClr val="bg2"/>
                </a:solidFill>
              </a:rPr>
              <a:t>Multi-sensor predator detection, long-range alerts and a map that protects both people and animals</a:t>
            </a:r>
            <a:endParaRPr lang="en-US" sz="1800" dirty="0"/>
          </a:p>
        </p:txBody>
      </p:sp>
      <p:sp>
        <p:nvSpPr>
          <p:cNvPr id="5" name="names"/>
          <p:cNvSpPr txBox="1"/>
          <p:nvPr/>
        </p:nvSpPr>
        <p:spPr>
          <a:xfrm>
            <a:off x="731520" y="4617720"/>
            <a:ext cx="6949440" cy="914400"/>
          </a:xfrm>
          <a:prstGeom prst="rect">
            <a:avLst/>
          </a:prstGeom>
          <a:noFill/>
          <a:ln/>
        </p:spPr>
        <p:txBody>
          <a:bodyPr wrap="square" lIns="0" tIns="0" rIns="0" bIns="0" rtlCol="0" anchor="t"/>
          <a:lstStyle/>
          <a:p>
            <a:pPr marL="0" indent="0">
              <a:buNone/>
            </a:pPr>
            <a:r>
              <a:rPr lang="en-US" sz="1500" dirty="0">
                <a:solidFill>
                  <a:schemeClr val="bg1"/>
                </a:solidFill>
              </a:rPr>
              <a:t>Gaurang Yogesh Surte (25070126514)  ·  Aditya Shelar (24070126019)</a:t>
            </a:r>
            <a:endParaRPr lang="en-US" sz="1500" dirty="0"/>
          </a:p>
          <a:p>
            <a:pPr marL="0" indent="0">
              <a:buNone/>
            </a:pPr>
            <a:r>
              <a:rPr lang="en-US" sz="1500" dirty="0">
                <a:solidFill>
                  <a:schemeClr val="bg1"/>
                </a:solidFill>
              </a:rPr>
              <a:t>Amit Pawar (25070126501)  ·  Akshat Chandekar (24070126022)</a:t>
            </a:r>
            <a:endParaRPr lang="en-US" sz="1500" dirty="0"/>
          </a:p>
          <a:p>
            <a:pPr marL="0" indent="0">
              <a:buNone/>
            </a:pPr>
            <a:r>
              <a:rPr lang="en-US" sz="1500" dirty="0">
                <a:solidFill>
                  <a:schemeClr val="bg1"/>
                </a:solidFill>
              </a:rPr>
              <a:t>Lakshya Saxena (25070126502)</a:t>
            </a:r>
            <a:endParaRPr lang="en-US" sz="1500" dirty="0"/>
          </a:p>
        </p:txBody>
      </p:sp>
      <p:sp>
        <p:nvSpPr>
          <p:cNvPr id="6" name="ngo line"/>
          <p:cNvSpPr txBox="1"/>
          <p:nvPr/>
        </p:nvSpPr>
        <p:spPr>
          <a:xfrm>
            <a:off x="731520" y="5852160"/>
            <a:ext cx="6766560" cy="274320"/>
          </a:xfrm>
          <a:prstGeom prst="rect">
            <a:avLst/>
          </a:prstGeom>
          <a:noFill/>
          <a:ln/>
        </p:spPr>
        <p:txBody>
          <a:bodyPr wrap="square" lIns="0" tIns="0" rIns="0" bIns="0" rtlCol="0" anchor="t"/>
          <a:lstStyle/>
          <a:p>
            <a:pPr marL="0" indent="0">
              <a:buNone/>
            </a:pPr>
            <a:r>
              <a:rPr lang="en-US" sz="1300" dirty="0">
                <a:solidFill>
                  <a:schemeClr val="bg2"/>
                </a:solidFill>
              </a:rPr>
              <a:t>NGO: SEER BHARAT Foundation, Pune      Faculty coordinator: Dr. Aditi Saxena</a:t>
            </a:r>
            <a:endParaRPr lang="en-US" sz="1300" dirty="0"/>
          </a:p>
        </p:txBody>
      </p:sp>
      <p:sp>
        <p:nvSpPr>
          <p:cNvPr id="7" name="trail"/>
          <p:cNvSpPr/>
          <p:nvPr/>
        </p:nvSpPr>
        <p:spPr>
          <a:xfrm flipV="1">
            <a:off x="8229600" y="4206240"/>
            <a:ext cx="1188720" cy="1005840"/>
          </a:xfrm>
          <a:prstGeom prst="line">
            <a:avLst/>
          </a:prstGeom>
          <a:noFill/>
          <a:ln w="22225">
            <a:solidFill>
              <a:schemeClr val="accent3"/>
            </a:solidFill>
            <a:prstDash val="dash"/>
          </a:ln>
        </p:spPr>
      </p:sp>
      <p:sp>
        <p:nvSpPr>
          <p:cNvPr id="8" name="trail"/>
          <p:cNvSpPr/>
          <p:nvPr/>
        </p:nvSpPr>
        <p:spPr>
          <a:xfrm>
            <a:off x="9418320" y="4206240"/>
            <a:ext cx="822960" cy="822960"/>
          </a:xfrm>
          <a:prstGeom prst="line">
            <a:avLst/>
          </a:prstGeom>
          <a:noFill/>
          <a:ln w="22225">
            <a:solidFill>
              <a:schemeClr val="accent3"/>
            </a:solidFill>
            <a:prstDash val="dash"/>
          </a:ln>
        </p:spPr>
      </p:sp>
      <p:sp>
        <p:nvSpPr>
          <p:cNvPr id="9" name="trail"/>
          <p:cNvSpPr/>
          <p:nvPr/>
        </p:nvSpPr>
        <p:spPr>
          <a:xfrm flipV="1">
            <a:off x="10241280" y="3383280"/>
            <a:ext cx="731520" cy="1645920"/>
          </a:xfrm>
          <a:prstGeom prst="line">
            <a:avLst/>
          </a:prstGeom>
          <a:noFill/>
          <a:ln w="22225">
            <a:solidFill>
              <a:schemeClr val="accent3"/>
            </a:solidFill>
            <a:prstDash val="dash"/>
          </a:ln>
        </p:spPr>
      </p:sp>
      <p:sp>
        <p:nvSpPr>
          <p:cNvPr id="10" name="trail"/>
          <p:cNvSpPr/>
          <p:nvPr/>
        </p:nvSpPr>
        <p:spPr>
          <a:xfrm>
            <a:off x="9966960" y="2286000"/>
            <a:ext cx="1005840" cy="1097280"/>
          </a:xfrm>
          <a:prstGeom prst="line">
            <a:avLst/>
          </a:prstGeom>
          <a:noFill/>
          <a:ln w="22225">
            <a:solidFill>
              <a:schemeClr val="accent3"/>
            </a:solidFill>
            <a:prstDash val="dash"/>
          </a:ln>
        </p:spPr>
      </p:sp>
      <p:sp>
        <p:nvSpPr>
          <p:cNvPr id="11" name="trail"/>
          <p:cNvSpPr/>
          <p:nvPr/>
        </p:nvSpPr>
        <p:spPr>
          <a:xfrm>
            <a:off x="8778240" y="1463040"/>
            <a:ext cx="1188720" cy="822960"/>
          </a:xfrm>
          <a:prstGeom prst="line">
            <a:avLst/>
          </a:prstGeom>
          <a:noFill/>
          <a:ln w="22225">
            <a:solidFill>
              <a:schemeClr val="accent3"/>
            </a:solidFill>
            <a:prstDash val="dash"/>
          </a:ln>
        </p:spPr>
      </p:sp>
      <p:sp>
        <p:nvSpPr>
          <p:cNvPr id="12" name="node 1"/>
          <p:cNvSpPr/>
          <p:nvPr/>
        </p:nvSpPr>
        <p:spPr>
          <a:xfrm>
            <a:off x="8074152" y="5056632"/>
            <a:ext cx="310896" cy="310896"/>
          </a:xfrm>
          <a:prstGeom prst="ellipse">
            <a:avLst/>
          </a:prstGeom>
          <a:solidFill>
            <a:schemeClr val="accent3">
              <a:alpha val="85000"/>
            </a:schemeClr>
          </a:solidFill>
          <a:ln w="15875">
            <a:solidFill>
              <a:schemeClr val="bg1"/>
            </a:solidFill>
            <a:prstDash val="solid"/>
          </a:ln>
        </p:spPr>
      </p:sp>
      <p:sp>
        <p:nvSpPr>
          <p:cNvPr id="13" name="node 2"/>
          <p:cNvSpPr/>
          <p:nvPr/>
        </p:nvSpPr>
        <p:spPr>
          <a:xfrm>
            <a:off x="9262872" y="4050792"/>
            <a:ext cx="310896" cy="310896"/>
          </a:xfrm>
          <a:prstGeom prst="ellipse">
            <a:avLst/>
          </a:prstGeom>
          <a:solidFill>
            <a:schemeClr val="accent3">
              <a:alpha val="85000"/>
            </a:schemeClr>
          </a:solidFill>
          <a:ln w="15875">
            <a:solidFill>
              <a:schemeClr val="bg1"/>
            </a:solidFill>
            <a:prstDash val="solid"/>
          </a:ln>
        </p:spPr>
      </p:sp>
      <p:sp>
        <p:nvSpPr>
          <p:cNvPr id="14" name="node 3"/>
          <p:cNvSpPr/>
          <p:nvPr/>
        </p:nvSpPr>
        <p:spPr>
          <a:xfrm>
            <a:off x="10085832" y="4873752"/>
            <a:ext cx="310896" cy="310896"/>
          </a:xfrm>
          <a:prstGeom prst="ellipse">
            <a:avLst/>
          </a:prstGeom>
          <a:solidFill>
            <a:schemeClr val="accent3">
              <a:alpha val="85000"/>
            </a:schemeClr>
          </a:solidFill>
          <a:ln w="15875">
            <a:solidFill>
              <a:schemeClr val="bg1"/>
            </a:solidFill>
            <a:prstDash val="solid"/>
          </a:ln>
        </p:spPr>
      </p:sp>
      <p:sp>
        <p:nvSpPr>
          <p:cNvPr id="15" name="node 4"/>
          <p:cNvSpPr/>
          <p:nvPr/>
        </p:nvSpPr>
        <p:spPr>
          <a:xfrm>
            <a:off x="10817352" y="3227832"/>
            <a:ext cx="310896" cy="310896"/>
          </a:xfrm>
          <a:prstGeom prst="ellipse">
            <a:avLst/>
          </a:prstGeom>
          <a:solidFill>
            <a:schemeClr val="accent3">
              <a:alpha val="85000"/>
            </a:schemeClr>
          </a:solidFill>
          <a:ln w="15875">
            <a:solidFill>
              <a:schemeClr val="bg1"/>
            </a:solidFill>
            <a:prstDash val="solid"/>
          </a:ln>
        </p:spPr>
      </p:sp>
      <p:sp>
        <p:nvSpPr>
          <p:cNvPr id="16" name="node 5"/>
          <p:cNvSpPr/>
          <p:nvPr/>
        </p:nvSpPr>
        <p:spPr>
          <a:xfrm>
            <a:off x="9811512" y="2130552"/>
            <a:ext cx="310896" cy="310896"/>
          </a:xfrm>
          <a:prstGeom prst="ellipse">
            <a:avLst/>
          </a:prstGeom>
          <a:solidFill>
            <a:schemeClr val="accent3">
              <a:alpha val="85000"/>
            </a:schemeClr>
          </a:solidFill>
          <a:ln w="15875">
            <a:solidFill>
              <a:schemeClr val="bg1"/>
            </a:solidFill>
            <a:prstDash val="solid"/>
          </a:ln>
        </p:spPr>
      </p:sp>
      <p:sp>
        <p:nvSpPr>
          <p:cNvPr id="17" name="node 6"/>
          <p:cNvSpPr/>
          <p:nvPr/>
        </p:nvSpPr>
        <p:spPr>
          <a:xfrm>
            <a:off x="8549640" y="1234440"/>
            <a:ext cx="457200" cy="457200"/>
          </a:xfrm>
          <a:prstGeom prst="ellipse">
            <a:avLst/>
          </a:prstGeom>
          <a:solidFill>
            <a:schemeClr val="accent2"/>
          </a:solidFill>
          <a:ln w="15875">
            <a:solidFill>
              <a:schemeClr val="bg1"/>
            </a:solidFill>
            <a:prstDash val="solid"/>
          </a:ln>
        </p:spPr>
      </p:sp>
      <p:pic>
        <p:nvPicPr>
          <p:cNvPr id="18" name="Image 0" descr="leaf"/>
          <p:cNvPicPr>
            <a:picLocks noChangeAspect="1"/>
          </p:cNvPicPr>
          <p:nvPr/>
        </p:nvPicPr>
        <p:blipFill>
          <a:blip r:embed="rId3"/>
          <a:stretch>
            <a:fillRect/>
          </a:stretch>
        </p:blipFill>
        <p:spPr>
          <a:xfrm>
            <a:off x="8750808" y="1344168"/>
            <a:ext cx="237744" cy="2377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Our project and who did what</a:t>
            </a:r>
            <a:endParaRPr lang="en-US" sz="3400" dirty="0"/>
          </a:p>
        </p:txBody>
      </p:sp>
      <p:sp>
        <p:nvSpPr>
          <p:cNvPr id="3" name="why card"/>
          <p:cNvSpPr/>
          <p:nvPr/>
        </p:nvSpPr>
        <p:spPr>
          <a:xfrm>
            <a:off x="548640" y="1371600"/>
            <a:ext cx="4754880" cy="1965960"/>
          </a:xfrm>
          <a:prstGeom prst="roundRect">
            <a:avLst>
              <a:gd name="adj" fmla="val 3721"/>
            </a:avLst>
          </a:prstGeom>
          <a:solidFill>
            <a:schemeClr val="bg2"/>
          </a:solidFill>
          <a:ln w="9525">
            <a:solidFill>
              <a:schemeClr val="bg2"/>
            </a:solidFill>
            <a:prstDash val="solid"/>
          </a:ln>
        </p:spPr>
      </p:sp>
      <p:sp>
        <p:nvSpPr>
          <p:cNvPr id="4" name="Text 2"/>
          <p:cNvSpPr txBox="1"/>
          <p:nvPr/>
        </p:nvSpPr>
        <p:spPr>
          <a:xfrm>
            <a:off x="777240" y="1508760"/>
            <a:ext cx="4297680" cy="292608"/>
          </a:xfrm>
          <a:prstGeom prst="rect">
            <a:avLst/>
          </a:prstGeom>
          <a:noFill/>
          <a:ln/>
        </p:spPr>
        <p:txBody>
          <a:bodyPr wrap="square" lIns="0" tIns="0" rIns="0" bIns="0" rtlCol="0" anchor="t"/>
          <a:lstStyle/>
          <a:p>
            <a:pPr marL="0" indent="0">
              <a:buNone/>
            </a:pPr>
            <a:r>
              <a:rPr lang="en-US" sz="1800" b="1" dirty="0">
                <a:solidFill>
                  <a:schemeClr val="accent4"/>
                </a:solidFill>
              </a:rPr>
              <a:t>Why we chose it</a:t>
            </a:r>
            <a:endParaRPr lang="en-US" sz="1800" dirty="0"/>
          </a:p>
        </p:txBody>
      </p:sp>
      <p:sp>
        <p:nvSpPr>
          <p:cNvPr id="5" name="Text 3"/>
          <p:cNvSpPr txBox="1"/>
          <p:nvPr/>
        </p:nvSpPr>
        <p:spPr>
          <a:xfrm>
            <a:off x="777240" y="1874520"/>
            <a:ext cx="434340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Predators now wander close to farms and roads</a:t>
            </a:r>
            <a:endParaRPr lang="en-US" sz="1500" dirty="0"/>
          </a:p>
          <a:p>
            <a:pPr marL="342900" indent="-342900">
              <a:spcAft>
                <a:spcPts val="600"/>
              </a:spcAft>
              <a:buSzPct val="100000"/>
              <a:buChar char="•"/>
            </a:pPr>
            <a:r>
              <a:rPr lang="en-US" sz="1500" dirty="0">
                <a:solidFill>
                  <a:schemeClr val="tx1"/>
                </a:solidFill>
              </a:rPr>
              <a:t>Forest areas often have no mobile data</a:t>
            </a:r>
            <a:endParaRPr lang="en-US" sz="1500" dirty="0"/>
          </a:p>
          <a:p>
            <a:pPr marL="342900" indent="-342900">
              <a:spcAft>
                <a:spcPts val="600"/>
              </a:spcAft>
              <a:buSzPct val="100000"/>
              <a:buChar char="•"/>
            </a:pPr>
            <a:r>
              <a:rPr lang="en-US" sz="1500" dirty="0">
                <a:solidFill>
                  <a:schemeClr val="tx1"/>
                </a:solidFill>
              </a:rPr>
              <a:t>It brings AI, embedded design and apps together</a:t>
            </a:r>
            <a:endParaRPr lang="en-US" sz="1500" dirty="0"/>
          </a:p>
        </p:txBody>
      </p:sp>
      <p:sp>
        <p:nvSpPr>
          <p:cNvPr id="6" name="goal card"/>
          <p:cNvSpPr/>
          <p:nvPr/>
        </p:nvSpPr>
        <p:spPr>
          <a:xfrm>
            <a:off x="548640" y="3520440"/>
            <a:ext cx="4754880" cy="1828800"/>
          </a:xfrm>
          <a:prstGeom prst="roundRect">
            <a:avLst>
              <a:gd name="adj" fmla="val 4000"/>
            </a:avLst>
          </a:prstGeom>
          <a:solidFill>
            <a:schemeClr val="bg2"/>
          </a:solidFill>
          <a:ln w="9525">
            <a:solidFill>
              <a:schemeClr val="bg2"/>
            </a:solidFill>
            <a:prstDash val="solid"/>
          </a:ln>
        </p:spPr>
      </p:sp>
      <p:sp>
        <p:nvSpPr>
          <p:cNvPr id="7" name="Text 5"/>
          <p:cNvSpPr txBox="1"/>
          <p:nvPr/>
        </p:nvSpPr>
        <p:spPr>
          <a:xfrm>
            <a:off x="777240" y="3657600"/>
            <a:ext cx="4297680" cy="292608"/>
          </a:xfrm>
          <a:prstGeom prst="rect">
            <a:avLst/>
          </a:prstGeom>
          <a:noFill/>
          <a:ln/>
        </p:spPr>
        <p:txBody>
          <a:bodyPr wrap="square" lIns="0" tIns="0" rIns="0" bIns="0" rtlCol="0" anchor="t"/>
          <a:lstStyle/>
          <a:p>
            <a:pPr marL="0" indent="0">
              <a:buNone/>
            </a:pPr>
            <a:r>
              <a:rPr lang="en-US" sz="1800" b="1" dirty="0">
                <a:solidFill>
                  <a:schemeClr val="accent4"/>
                </a:solidFill>
              </a:rPr>
              <a:t>Our goal</a:t>
            </a:r>
            <a:endParaRPr lang="en-US" sz="1800" dirty="0"/>
          </a:p>
        </p:txBody>
      </p:sp>
      <p:sp>
        <p:nvSpPr>
          <p:cNvPr id="8" name="Text 6"/>
          <p:cNvSpPr txBox="1"/>
          <p:nvPr/>
        </p:nvSpPr>
        <p:spPr>
          <a:xfrm>
            <a:off x="777240" y="4023360"/>
            <a:ext cx="4343400" cy="1234440"/>
          </a:xfrm>
          <a:prstGeom prst="rect">
            <a:avLst/>
          </a:prstGeom>
          <a:noFill/>
          <a:ln/>
        </p:spPr>
        <p:txBody>
          <a:bodyPr wrap="square" lIns="0" tIns="0" rIns="0" bIns="0" rtlCol="0" anchor="t"/>
          <a:lstStyle/>
          <a:p>
            <a:pPr marL="0" indent="0">
              <a:buNone/>
            </a:pPr>
            <a:r>
              <a:rPr lang="en-US" sz="1500" dirty="0">
                <a:solidFill>
                  <a:schemeClr val="tx1"/>
                </a:solidFill>
              </a:rPr>
              <a:t>Build a working path from detection to alert: a solar-powered node senses a predator, reports where it is across a long-range radio link, and warns residents and forest staff.</a:t>
            </a:r>
            <a:endParaRPr lang="en-US" sz="1500" dirty="0"/>
          </a:p>
        </p:txBody>
      </p:sp>
      <p:graphicFrame>
        <p:nvGraphicFramePr>
          <p:cNvPr id="9" name="roles table"/>
          <p:cNvGraphicFramePr>
            <a:graphicFrameLocks noGrp="1"/>
          </p:cNvGraphicFramePr>
          <p:nvPr>
            <p:extLst>
              <p:ext uri="{D42A27DB-BD31-4B8C-83A1-F6EECF244321}">
                <p14:modId xmlns:p14="http://schemas.microsoft.com/office/powerpoint/2010/main" val="1579011935"/>
              </p:ext>
            </p:extLst>
          </p:nvPr>
        </p:nvGraphicFramePr>
        <p:xfrm>
          <a:off x="5577840" y="1371600"/>
          <a:ext cx="6062472" cy="3218688"/>
        </p:xfrm>
        <a:graphic>
          <a:graphicData uri="http://schemas.openxmlformats.org/drawingml/2006/table">
            <a:tbl>
              <a:tblPr/>
              <a:tblGrid>
                <a:gridCol w="16002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365760">
                <a:tc>
                  <a:txBody>
                    <a:bodyPr/>
                    <a:lstStyle/>
                    <a:p>
                      <a:pPr marL="0" indent="0">
                        <a:buNone/>
                      </a:pPr>
                      <a:r>
                        <a:rPr lang="en-US" sz="1400" b="1" dirty="0">
                          <a:solidFill>
                            <a:schemeClr val="bg1"/>
                          </a:solidFill>
                        </a:rPr>
                        <a:t>Area</a:t>
                      </a:r>
                      <a:endParaRPr lang="en-US" sz="14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Who</a:t>
                      </a:r>
                      <a:endParaRPr lang="en-US" sz="14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What was done</a:t>
                      </a:r>
                      <a:endParaRPr lang="en-US" sz="14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13232">
                <a:tc>
                  <a:txBody>
                    <a:bodyPr/>
                    <a:lstStyle/>
                    <a:p>
                      <a:pPr marL="0" indent="0">
                        <a:buNone/>
                      </a:pPr>
                      <a:r>
                        <a:rPr lang="en-US" sz="1300" b="1" dirty="0">
                          <a:solidFill>
                            <a:schemeClr val="tx1"/>
                          </a:solidFill>
                        </a:rPr>
                        <a:t>Hardware and coding</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Gaurang, Aditya</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Part research, circuit and pin map, solar power, ESP32 code, Wokwi tests</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13232">
                <a:tc>
                  <a:txBody>
                    <a:bodyPr/>
                    <a:lstStyle/>
                    <a:p>
                      <a:pPr marL="0" indent="0">
                        <a:buNone/>
                      </a:pPr>
                      <a:r>
                        <a:rPr lang="en-US" sz="1300" b="1" dirty="0">
                          <a:solidFill>
                            <a:schemeClr val="tx1"/>
                          </a:solidFill>
                        </a:rPr>
                        <a:t>Public app and Forest portal</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Amit, Akshat, Lakshya</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Screen layout, sighting capture, alert list, SMS-style notice, map with safe-area finder</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13232">
                <a:tc>
                  <a:txBody>
                    <a:bodyPr/>
                    <a:lstStyle/>
                    <a:p>
                      <a:pPr marL="0" indent="0">
                        <a:buNone/>
                      </a:pPr>
                      <a:r>
                        <a:rPr lang="en-US" sz="1300" b="1" dirty="0">
                          <a:solidFill>
                            <a:schemeClr val="tx1"/>
                          </a:solidFill>
                        </a:rPr>
                        <a:t>Research and planning</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Lakshya</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NGO study, community problem survey, topic choice, workflow</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13232">
                <a:tc>
                  <a:txBody>
                    <a:bodyPr/>
                    <a:lstStyle/>
                    <a:p>
                      <a:pPr marL="0" indent="0">
                        <a:buNone/>
                      </a:pPr>
                      <a:r>
                        <a:rPr lang="en-US" sz="1300" b="1" dirty="0">
                          <a:solidFill>
                            <a:schemeClr val="tx1"/>
                          </a:solidFill>
                        </a:rPr>
                        <a:t>NGO handover set</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Team</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Manual, user guide, demo video, hardware guide, implementation guide</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0" name="Text 7"/>
          <p:cNvSpPr txBox="1"/>
          <p:nvPr/>
        </p:nvSpPr>
        <p:spPr>
          <a:xfrm>
            <a:off x="5577840" y="4983480"/>
            <a:ext cx="6062472" cy="365760"/>
          </a:xfrm>
          <a:prstGeom prst="rect">
            <a:avLst/>
          </a:prstGeom>
          <a:noFill/>
          <a:ln/>
        </p:spPr>
        <p:txBody>
          <a:bodyPr wrap="square" lIns="0" tIns="0" rIns="0" bIns="0" rtlCol="0" anchor="t"/>
          <a:lstStyle/>
          <a:p>
            <a:pPr marL="0" indent="0">
              <a:buNone/>
            </a:pPr>
            <a:r>
              <a:rPr lang="en-US" sz="1300" i="1" dirty="0">
                <a:solidFill>
                  <a:schemeClr val="accent6"/>
                </a:solidFill>
              </a:rPr>
              <a:t>This is a prototype: demo records in the app, a simulator for the hardware.</a:t>
            </a:r>
            <a:endParaRPr lang="en-US" sz="1300" dirty="0"/>
          </a:p>
        </p:txBody>
      </p:sp>
      <p:sp>
        <p:nvSpPr>
          <p:cNvPr id="11" name="dates box"/>
          <p:cNvSpPr/>
          <p:nvPr/>
        </p:nvSpPr>
        <p:spPr>
          <a:xfrm>
            <a:off x="548640" y="5532120"/>
            <a:ext cx="11091672" cy="640080"/>
          </a:xfrm>
          <a:prstGeom prst="roundRect">
            <a:avLst>
              <a:gd name="adj" fmla="val 11429"/>
            </a:avLst>
          </a:prstGeom>
          <a:solidFill>
            <a:schemeClr val="bg2"/>
          </a:solidFill>
          <a:ln w="9525">
            <a:solidFill>
              <a:schemeClr val="bg2"/>
            </a:solidFill>
            <a:prstDash val="solid"/>
          </a:ln>
        </p:spPr>
      </p:sp>
      <p:sp>
        <p:nvSpPr>
          <p:cNvPr id="12" name="Text 9"/>
          <p:cNvSpPr txBox="1"/>
          <p:nvPr/>
        </p:nvSpPr>
        <p:spPr>
          <a:xfrm>
            <a:off x="777240" y="5532120"/>
            <a:ext cx="10698480" cy="640080"/>
          </a:xfrm>
          <a:prstGeom prst="rect">
            <a:avLst/>
          </a:prstGeom>
          <a:noFill/>
          <a:ln/>
        </p:spPr>
        <p:txBody>
          <a:bodyPr wrap="square" lIns="0" tIns="0" rIns="0" bIns="0" rtlCol="0" anchor="ctr"/>
          <a:lstStyle/>
          <a:p>
            <a:pPr marL="0" indent="0">
              <a:buNone/>
            </a:pPr>
            <a:r>
              <a:rPr lang="en-US" sz="1500" b="1" dirty="0">
                <a:solidFill>
                  <a:schemeClr val="accent4"/>
                </a:solidFill>
              </a:rPr>
              <a:t>Period:  </a:t>
            </a:r>
            <a:r>
              <a:rPr lang="en-US" sz="1500" dirty="0">
                <a:solidFill>
                  <a:schemeClr val="tx1"/>
                </a:solidFill>
              </a:rPr>
              <a:t>1 July to 17 October 2026 (14 logbook weeks)      </a:t>
            </a:r>
            <a:r>
              <a:rPr lang="en-US" sz="1500" b="1" dirty="0">
                <a:solidFill>
                  <a:schemeClr val="accent4"/>
                </a:solidFill>
              </a:rPr>
              <a:t>Hours:  </a:t>
            </a:r>
            <a:r>
              <a:rPr lang="en-US" sz="1500" dirty="0">
                <a:solidFill>
                  <a:schemeClr val="tx1"/>
                </a:solidFill>
              </a:rPr>
              <a:t>123 verified, signed by the NGO</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The NGO and the problem we picked</a:t>
            </a:r>
            <a:endParaRPr lang="en-US" sz="3400" dirty="0"/>
          </a:p>
        </p:txBody>
      </p:sp>
      <p:sp>
        <p:nvSpPr>
          <p:cNvPr id="3" name="ngo card"/>
          <p:cNvSpPr/>
          <p:nvPr/>
        </p:nvSpPr>
        <p:spPr>
          <a:xfrm>
            <a:off x="548640" y="1371600"/>
            <a:ext cx="3383280" cy="3840480"/>
          </a:xfrm>
          <a:prstGeom prst="roundRect">
            <a:avLst>
              <a:gd name="adj" fmla="val 2162"/>
            </a:avLst>
          </a:prstGeom>
          <a:solidFill>
            <a:schemeClr val="accent1"/>
          </a:solidFill>
          <a:ln w="9525">
            <a:solidFill>
              <a:schemeClr val="accent1"/>
            </a:solidFill>
            <a:prstDash val="solid"/>
          </a:ln>
        </p:spPr>
      </p:sp>
      <p:pic>
        <p:nvPicPr>
          <p:cNvPr id="4" name="Image 0" descr="leaf"/>
          <p:cNvPicPr>
            <a:picLocks noChangeAspect="1"/>
          </p:cNvPicPr>
          <p:nvPr/>
        </p:nvPicPr>
        <p:blipFill>
          <a:blip r:embed="rId3"/>
          <a:stretch>
            <a:fillRect/>
          </a:stretch>
        </p:blipFill>
        <p:spPr>
          <a:xfrm>
            <a:off x="822960" y="1600200"/>
            <a:ext cx="457200" cy="457200"/>
          </a:xfrm>
          <a:prstGeom prst="rect">
            <a:avLst/>
          </a:prstGeom>
        </p:spPr>
      </p:pic>
      <p:sp>
        <p:nvSpPr>
          <p:cNvPr id="5" name="Text 2"/>
          <p:cNvSpPr txBox="1"/>
          <p:nvPr/>
        </p:nvSpPr>
        <p:spPr>
          <a:xfrm>
            <a:off x="822960" y="2194560"/>
            <a:ext cx="2834640" cy="64008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SEER BHARAT Foundation</a:t>
            </a:r>
            <a:endParaRPr lang="en-US" sz="2000" dirty="0"/>
          </a:p>
        </p:txBody>
      </p:sp>
      <p:sp>
        <p:nvSpPr>
          <p:cNvPr id="6" name="Text 3"/>
          <p:cNvSpPr txBox="1"/>
          <p:nvPr/>
        </p:nvSpPr>
        <p:spPr>
          <a:xfrm>
            <a:off x="822960" y="2926080"/>
            <a:ext cx="2834640" cy="2103120"/>
          </a:xfrm>
          <a:prstGeom prst="rect">
            <a:avLst/>
          </a:prstGeom>
          <a:noFill/>
          <a:ln/>
        </p:spPr>
        <p:txBody>
          <a:bodyPr wrap="square" lIns="0" tIns="0" rIns="0" bIns="0" rtlCol="0" anchor="t"/>
          <a:lstStyle/>
          <a:p>
            <a:pPr marL="0" indent="0">
              <a:buNone/>
            </a:pPr>
            <a:r>
              <a:rPr lang="en-US" sz="1400" dirty="0">
                <a:solidFill>
                  <a:schemeClr val="bg2"/>
                </a:solidFill>
              </a:rPr>
              <a:t>A non-profit in Wakad, Pune, working across education, environment and empowerment. It applies technology to practical problems and keeps endangered information from being lost.</a:t>
            </a:r>
            <a:endParaRPr lang="en-US" sz="1400" dirty="0"/>
          </a:p>
        </p:txBody>
      </p:sp>
      <p:sp>
        <p:nvSpPr>
          <p:cNvPr id="7" name="problem 1"/>
          <p:cNvSpPr/>
          <p:nvPr/>
        </p:nvSpPr>
        <p:spPr>
          <a:xfrm>
            <a:off x="4206240" y="1371600"/>
            <a:ext cx="3639312" cy="1143000"/>
          </a:xfrm>
          <a:prstGeom prst="roundRect">
            <a:avLst>
              <a:gd name="adj" fmla="val 6400"/>
            </a:avLst>
          </a:prstGeom>
          <a:solidFill>
            <a:schemeClr val="bg2"/>
          </a:solidFill>
          <a:ln w="9525">
            <a:solidFill>
              <a:schemeClr val="bg2"/>
            </a:solidFill>
            <a:prstDash val="solid"/>
          </a:ln>
        </p:spPr>
      </p:sp>
      <p:sp>
        <p:nvSpPr>
          <p:cNvPr id="8" name="icon disc"/>
          <p:cNvSpPr/>
          <p:nvPr/>
        </p:nvSpPr>
        <p:spPr>
          <a:xfrm>
            <a:off x="4370832" y="1645920"/>
            <a:ext cx="566928" cy="566928"/>
          </a:xfrm>
          <a:prstGeom prst="ellipse">
            <a:avLst/>
          </a:prstGeom>
          <a:solidFill>
            <a:schemeClr val="bg1"/>
          </a:solidFill>
          <a:ln w="12700">
            <a:solidFill>
              <a:schemeClr val="bg1"/>
            </a:solidFill>
            <a:prstDash val="solid"/>
          </a:ln>
        </p:spPr>
      </p:sp>
      <p:pic>
        <p:nvPicPr>
          <p:cNvPr id="9" name="Image 1" descr="Shrinking green cover"/>
          <p:cNvPicPr>
            <a:picLocks noChangeAspect="1"/>
          </p:cNvPicPr>
          <p:nvPr/>
        </p:nvPicPr>
        <p:blipFill>
          <a:blip r:embed="rId4"/>
          <a:stretch>
            <a:fillRect/>
          </a:stretch>
        </p:blipFill>
        <p:spPr>
          <a:xfrm>
            <a:off x="4517136" y="1792224"/>
            <a:ext cx="274320" cy="274320"/>
          </a:xfrm>
          <a:prstGeom prst="rect">
            <a:avLst/>
          </a:prstGeom>
        </p:spPr>
      </p:pic>
      <p:sp>
        <p:nvSpPr>
          <p:cNvPr id="10" name="Text 6"/>
          <p:cNvSpPr txBox="1"/>
          <p:nvPr/>
        </p:nvSpPr>
        <p:spPr>
          <a:xfrm>
            <a:off x="5074920" y="1527048"/>
            <a:ext cx="2651760" cy="274320"/>
          </a:xfrm>
          <a:prstGeom prst="rect">
            <a:avLst/>
          </a:prstGeom>
          <a:noFill/>
          <a:ln/>
        </p:spPr>
        <p:txBody>
          <a:bodyPr wrap="square" lIns="0" tIns="0" rIns="0" bIns="0" rtlCol="0" anchor="t"/>
          <a:lstStyle/>
          <a:p>
            <a:pPr marL="0" indent="0">
              <a:buNone/>
            </a:pPr>
            <a:r>
              <a:rPr lang="en-US" sz="1500" b="1" dirty="0">
                <a:solidFill>
                  <a:schemeClr val="tx2"/>
                </a:solidFill>
              </a:rPr>
              <a:t>Shrinking green cover</a:t>
            </a:r>
            <a:endParaRPr lang="en-US" sz="1500" dirty="0"/>
          </a:p>
        </p:txBody>
      </p:sp>
      <p:sp>
        <p:nvSpPr>
          <p:cNvPr id="11" name="Text 7"/>
          <p:cNvSpPr txBox="1"/>
          <p:nvPr/>
        </p:nvSpPr>
        <p:spPr>
          <a:xfrm>
            <a:off x="5074920" y="1828800"/>
            <a:ext cx="2651760" cy="594360"/>
          </a:xfrm>
          <a:prstGeom prst="rect">
            <a:avLst/>
          </a:prstGeom>
          <a:noFill/>
          <a:ln/>
        </p:spPr>
        <p:txBody>
          <a:bodyPr wrap="square" lIns="0" tIns="0" rIns="0" bIns="0" rtlCol="0" anchor="t"/>
          <a:lstStyle/>
          <a:p>
            <a:pPr marL="0" indent="0">
              <a:buNone/>
            </a:pPr>
            <a:r>
              <a:rPr lang="en-US" sz="1300" dirty="0">
                <a:solidFill>
                  <a:schemeClr val="tx1"/>
                </a:solidFill>
              </a:rPr>
              <a:t>Habitat loss pushes animals towards settlements</a:t>
            </a:r>
            <a:endParaRPr lang="en-US" sz="1300" dirty="0"/>
          </a:p>
        </p:txBody>
      </p:sp>
      <p:sp>
        <p:nvSpPr>
          <p:cNvPr id="12" name="problem 2"/>
          <p:cNvSpPr/>
          <p:nvPr/>
        </p:nvSpPr>
        <p:spPr>
          <a:xfrm>
            <a:off x="8001000" y="1371600"/>
            <a:ext cx="3639312" cy="1143000"/>
          </a:xfrm>
          <a:prstGeom prst="roundRect">
            <a:avLst>
              <a:gd name="adj" fmla="val 6400"/>
            </a:avLst>
          </a:prstGeom>
          <a:solidFill>
            <a:schemeClr val="bg2"/>
          </a:solidFill>
          <a:ln w="9525">
            <a:solidFill>
              <a:schemeClr val="bg2"/>
            </a:solidFill>
            <a:prstDash val="solid"/>
          </a:ln>
        </p:spPr>
      </p:sp>
      <p:sp>
        <p:nvSpPr>
          <p:cNvPr id="13" name="icon disc"/>
          <p:cNvSpPr/>
          <p:nvPr/>
        </p:nvSpPr>
        <p:spPr>
          <a:xfrm>
            <a:off x="8165592" y="1645920"/>
            <a:ext cx="566928" cy="566928"/>
          </a:xfrm>
          <a:prstGeom prst="ellipse">
            <a:avLst/>
          </a:prstGeom>
          <a:solidFill>
            <a:schemeClr val="bg1"/>
          </a:solidFill>
          <a:ln w="12700">
            <a:solidFill>
              <a:schemeClr val="bg1"/>
            </a:solidFill>
            <a:prstDash val="solid"/>
          </a:ln>
        </p:spPr>
      </p:sp>
      <p:pic>
        <p:nvPicPr>
          <p:cNvPr id="14" name="Image 2" descr="People meet predators"/>
          <p:cNvPicPr>
            <a:picLocks noChangeAspect="1"/>
          </p:cNvPicPr>
          <p:nvPr/>
        </p:nvPicPr>
        <p:blipFill>
          <a:blip r:embed="rId5"/>
          <a:stretch>
            <a:fillRect/>
          </a:stretch>
        </p:blipFill>
        <p:spPr>
          <a:xfrm>
            <a:off x="8311896" y="1792224"/>
            <a:ext cx="274320" cy="274320"/>
          </a:xfrm>
          <a:prstGeom prst="rect">
            <a:avLst/>
          </a:prstGeom>
        </p:spPr>
      </p:pic>
      <p:sp>
        <p:nvSpPr>
          <p:cNvPr id="15" name="Text 10"/>
          <p:cNvSpPr txBox="1"/>
          <p:nvPr/>
        </p:nvSpPr>
        <p:spPr>
          <a:xfrm>
            <a:off x="8869680" y="1527048"/>
            <a:ext cx="2651760" cy="274320"/>
          </a:xfrm>
          <a:prstGeom prst="rect">
            <a:avLst/>
          </a:prstGeom>
          <a:noFill/>
          <a:ln/>
        </p:spPr>
        <p:txBody>
          <a:bodyPr wrap="square" lIns="0" tIns="0" rIns="0" bIns="0" rtlCol="0" anchor="t"/>
          <a:lstStyle/>
          <a:p>
            <a:pPr marL="0" indent="0">
              <a:buNone/>
            </a:pPr>
            <a:r>
              <a:rPr lang="en-US" sz="1500" b="1" dirty="0">
                <a:solidFill>
                  <a:schemeClr val="tx2"/>
                </a:solidFill>
              </a:rPr>
              <a:t>People meet predators</a:t>
            </a:r>
            <a:endParaRPr lang="en-US" sz="1500" dirty="0"/>
          </a:p>
        </p:txBody>
      </p:sp>
      <p:sp>
        <p:nvSpPr>
          <p:cNvPr id="16" name="Text 11"/>
          <p:cNvSpPr txBox="1"/>
          <p:nvPr/>
        </p:nvSpPr>
        <p:spPr>
          <a:xfrm>
            <a:off x="8869680" y="1828800"/>
            <a:ext cx="2651760" cy="594360"/>
          </a:xfrm>
          <a:prstGeom prst="rect">
            <a:avLst/>
          </a:prstGeom>
          <a:noFill/>
          <a:ln/>
        </p:spPr>
        <p:txBody>
          <a:bodyPr wrap="square" lIns="0" tIns="0" rIns="0" bIns="0" rtlCol="0" anchor="t"/>
          <a:lstStyle/>
          <a:p>
            <a:pPr marL="0" indent="0">
              <a:buNone/>
            </a:pPr>
            <a:r>
              <a:rPr lang="en-US" sz="1300" dirty="0">
                <a:solidFill>
                  <a:schemeClr val="tx1"/>
                </a:solidFill>
              </a:rPr>
              <a:t>Villagers hear about an animal only when it is close</a:t>
            </a:r>
            <a:endParaRPr lang="en-US" sz="1300" dirty="0"/>
          </a:p>
        </p:txBody>
      </p:sp>
      <p:sp>
        <p:nvSpPr>
          <p:cNvPr id="17" name="problem 3"/>
          <p:cNvSpPr/>
          <p:nvPr/>
        </p:nvSpPr>
        <p:spPr>
          <a:xfrm>
            <a:off x="4206240" y="2651760"/>
            <a:ext cx="3639312" cy="1143000"/>
          </a:xfrm>
          <a:prstGeom prst="roundRect">
            <a:avLst>
              <a:gd name="adj" fmla="val 6400"/>
            </a:avLst>
          </a:prstGeom>
          <a:solidFill>
            <a:schemeClr val="bg2"/>
          </a:solidFill>
          <a:ln w="9525">
            <a:solidFill>
              <a:schemeClr val="bg2"/>
            </a:solidFill>
            <a:prstDash val="solid"/>
          </a:ln>
        </p:spPr>
      </p:sp>
      <p:sp>
        <p:nvSpPr>
          <p:cNvPr id="18" name="icon disc"/>
          <p:cNvSpPr/>
          <p:nvPr/>
        </p:nvSpPr>
        <p:spPr>
          <a:xfrm>
            <a:off x="4370832" y="2926080"/>
            <a:ext cx="566928" cy="566928"/>
          </a:xfrm>
          <a:prstGeom prst="ellipse">
            <a:avLst/>
          </a:prstGeom>
          <a:solidFill>
            <a:schemeClr val="bg1"/>
          </a:solidFill>
          <a:ln w="12700">
            <a:solidFill>
              <a:schemeClr val="bg1"/>
            </a:solidFill>
            <a:prstDash val="solid"/>
          </a:ln>
        </p:spPr>
      </p:sp>
      <p:pic>
        <p:nvPicPr>
          <p:cNvPr id="19" name="Image 3" descr="Years of unused data"/>
          <p:cNvPicPr>
            <a:picLocks noChangeAspect="1"/>
          </p:cNvPicPr>
          <p:nvPr/>
        </p:nvPicPr>
        <p:blipFill>
          <a:blip r:embed="rId6"/>
          <a:stretch>
            <a:fillRect/>
          </a:stretch>
        </p:blipFill>
        <p:spPr>
          <a:xfrm>
            <a:off x="4517136" y="3072384"/>
            <a:ext cx="274320" cy="274320"/>
          </a:xfrm>
          <a:prstGeom prst="rect">
            <a:avLst/>
          </a:prstGeom>
        </p:spPr>
      </p:pic>
      <p:sp>
        <p:nvSpPr>
          <p:cNvPr id="20" name="Text 14"/>
          <p:cNvSpPr txBox="1"/>
          <p:nvPr/>
        </p:nvSpPr>
        <p:spPr>
          <a:xfrm>
            <a:off x="5074920" y="2807208"/>
            <a:ext cx="2651760" cy="274320"/>
          </a:xfrm>
          <a:prstGeom prst="rect">
            <a:avLst/>
          </a:prstGeom>
          <a:noFill/>
          <a:ln/>
        </p:spPr>
        <p:txBody>
          <a:bodyPr wrap="square" lIns="0" tIns="0" rIns="0" bIns="0" rtlCol="0" anchor="t"/>
          <a:lstStyle/>
          <a:p>
            <a:pPr marL="0" indent="0">
              <a:buNone/>
            </a:pPr>
            <a:r>
              <a:rPr lang="en-US" sz="1500" b="1" dirty="0">
                <a:solidFill>
                  <a:schemeClr val="tx2"/>
                </a:solidFill>
              </a:rPr>
              <a:t>Years of unused data</a:t>
            </a:r>
            <a:endParaRPr lang="en-US" sz="1500" dirty="0"/>
          </a:p>
        </p:txBody>
      </p:sp>
      <p:sp>
        <p:nvSpPr>
          <p:cNvPr id="21" name="Text 15"/>
          <p:cNvSpPr txBox="1"/>
          <p:nvPr/>
        </p:nvSpPr>
        <p:spPr>
          <a:xfrm>
            <a:off x="5074920" y="3108960"/>
            <a:ext cx="2651760" cy="594360"/>
          </a:xfrm>
          <a:prstGeom prst="rect">
            <a:avLst/>
          </a:prstGeom>
          <a:noFill/>
          <a:ln/>
        </p:spPr>
        <p:txBody>
          <a:bodyPr wrap="square" lIns="0" tIns="0" rIns="0" bIns="0" rtlCol="0" anchor="t"/>
          <a:lstStyle/>
          <a:p>
            <a:pPr marL="0" indent="0">
              <a:buNone/>
            </a:pPr>
            <a:r>
              <a:rPr lang="en-US" sz="1300" dirty="0">
                <a:solidFill>
                  <a:schemeClr val="tx1"/>
                </a:solidFill>
              </a:rPr>
              <a:t>Deforestation records never became maps or rates</a:t>
            </a:r>
            <a:endParaRPr lang="en-US" sz="1300" dirty="0"/>
          </a:p>
        </p:txBody>
      </p:sp>
      <p:sp>
        <p:nvSpPr>
          <p:cNvPr id="22" name="problem 4"/>
          <p:cNvSpPr/>
          <p:nvPr/>
        </p:nvSpPr>
        <p:spPr>
          <a:xfrm>
            <a:off x="8001000" y="2651760"/>
            <a:ext cx="3639312" cy="1143000"/>
          </a:xfrm>
          <a:prstGeom prst="roundRect">
            <a:avLst>
              <a:gd name="adj" fmla="val 6400"/>
            </a:avLst>
          </a:prstGeom>
          <a:solidFill>
            <a:schemeClr val="bg2"/>
          </a:solidFill>
          <a:ln w="9525">
            <a:solidFill>
              <a:schemeClr val="bg2"/>
            </a:solidFill>
            <a:prstDash val="solid"/>
          </a:ln>
        </p:spPr>
      </p:sp>
      <p:sp>
        <p:nvSpPr>
          <p:cNvPr id="23" name="icon disc"/>
          <p:cNvSpPr/>
          <p:nvPr/>
        </p:nvSpPr>
        <p:spPr>
          <a:xfrm>
            <a:off x="8165592" y="2926080"/>
            <a:ext cx="566928" cy="566928"/>
          </a:xfrm>
          <a:prstGeom prst="ellipse">
            <a:avLst/>
          </a:prstGeom>
          <a:solidFill>
            <a:schemeClr val="bg1"/>
          </a:solidFill>
          <a:ln w="12700">
            <a:solidFill>
              <a:schemeClr val="bg1"/>
            </a:solidFill>
            <a:prstDash val="solid"/>
          </a:ln>
        </p:spPr>
      </p:sp>
      <p:pic>
        <p:nvPicPr>
          <p:cNvPr id="24" name="Image 4" descr="Weak connectivity"/>
          <p:cNvPicPr>
            <a:picLocks noChangeAspect="1"/>
          </p:cNvPicPr>
          <p:nvPr/>
        </p:nvPicPr>
        <p:blipFill>
          <a:blip r:embed="rId7"/>
          <a:stretch>
            <a:fillRect/>
          </a:stretch>
        </p:blipFill>
        <p:spPr>
          <a:xfrm>
            <a:off x="8311896" y="3072384"/>
            <a:ext cx="274320" cy="274320"/>
          </a:xfrm>
          <a:prstGeom prst="rect">
            <a:avLst/>
          </a:prstGeom>
        </p:spPr>
      </p:pic>
      <p:sp>
        <p:nvSpPr>
          <p:cNvPr id="25" name="Text 18"/>
          <p:cNvSpPr txBox="1"/>
          <p:nvPr/>
        </p:nvSpPr>
        <p:spPr>
          <a:xfrm>
            <a:off x="8869680" y="2807208"/>
            <a:ext cx="2651760" cy="274320"/>
          </a:xfrm>
          <a:prstGeom prst="rect">
            <a:avLst/>
          </a:prstGeom>
          <a:noFill/>
          <a:ln/>
        </p:spPr>
        <p:txBody>
          <a:bodyPr wrap="square" lIns="0" tIns="0" rIns="0" bIns="0" rtlCol="0" anchor="t"/>
          <a:lstStyle/>
          <a:p>
            <a:pPr marL="0" indent="0">
              <a:buNone/>
            </a:pPr>
            <a:r>
              <a:rPr lang="en-US" sz="1500" b="1" dirty="0">
                <a:solidFill>
                  <a:schemeClr val="tx2"/>
                </a:solidFill>
              </a:rPr>
              <a:t>Weak connectivity</a:t>
            </a:r>
            <a:endParaRPr lang="en-US" sz="1500" dirty="0"/>
          </a:p>
        </p:txBody>
      </p:sp>
      <p:sp>
        <p:nvSpPr>
          <p:cNvPr id="26" name="Text 19"/>
          <p:cNvSpPr txBox="1"/>
          <p:nvPr/>
        </p:nvSpPr>
        <p:spPr>
          <a:xfrm>
            <a:off x="8869680" y="3108960"/>
            <a:ext cx="2651760" cy="594360"/>
          </a:xfrm>
          <a:prstGeom prst="rect">
            <a:avLst/>
          </a:prstGeom>
          <a:noFill/>
          <a:ln/>
        </p:spPr>
        <p:txBody>
          <a:bodyPr wrap="square" lIns="0" tIns="0" rIns="0" bIns="0" rtlCol="0" anchor="t"/>
          <a:lstStyle/>
          <a:p>
            <a:pPr marL="0" indent="0">
              <a:buNone/>
            </a:pPr>
            <a:r>
              <a:rPr lang="en-US" sz="1300" dirty="0">
                <a:solidFill>
                  <a:schemeClr val="tx1"/>
                </a:solidFill>
              </a:rPr>
              <a:t>Apps alone fail, so radio and SMS are needed</a:t>
            </a:r>
            <a:endParaRPr lang="en-US" sz="1300" dirty="0"/>
          </a:p>
        </p:txBody>
      </p:sp>
      <p:sp>
        <p:nvSpPr>
          <p:cNvPr id="27" name="problem 5"/>
          <p:cNvSpPr/>
          <p:nvPr/>
        </p:nvSpPr>
        <p:spPr>
          <a:xfrm>
            <a:off x="4206240" y="3931920"/>
            <a:ext cx="3639312" cy="1143000"/>
          </a:xfrm>
          <a:prstGeom prst="roundRect">
            <a:avLst>
              <a:gd name="adj" fmla="val 6400"/>
            </a:avLst>
          </a:prstGeom>
          <a:solidFill>
            <a:schemeClr val="bg2"/>
          </a:solidFill>
          <a:ln w="9525">
            <a:solidFill>
              <a:schemeClr val="bg2"/>
            </a:solidFill>
            <a:prstDash val="solid"/>
          </a:ln>
        </p:spPr>
      </p:sp>
      <p:sp>
        <p:nvSpPr>
          <p:cNvPr id="28" name="icon disc"/>
          <p:cNvSpPr/>
          <p:nvPr/>
        </p:nvSpPr>
        <p:spPr>
          <a:xfrm>
            <a:off x="4370832" y="4206240"/>
            <a:ext cx="566928" cy="566928"/>
          </a:xfrm>
          <a:prstGeom prst="ellipse">
            <a:avLst/>
          </a:prstGeom>
          <a:solidFill>
            <a:schemeClr val="bg1"/>
          </a:solidFill>
          <a:ln w="12700">
            <a:solidFill>
              <a:schemeClr val="bg1"/>
            </a:solidFill>
            <a:prstDash val="solid"/>
          </a:ln>
        </p:spPr>
      </p:sp>
      <p:pic>
        <p:nvPicPr>
          <p:cNvPr id="29" name="Image 5" descr="Hardware in the open"/>
          <p:cNvPicPr>
            <a:picLocks noChangeAspect="1"/>
          </p:cNvPicPr>
          <p:nvPr/>
        </p:nvPicPr>
        <p:blipFill>
          <a:blip r:embed="rId8"/>
          <a:stretch>
            <a:fillRect/>
          </a:stretch>
        </p:blipFill>
        <p:spPr>
          <a:xfrm>
            <a:off x="4517136" y="4352544"/>
            <a:ext cx="274320" cy="274320"/>
          </a:xfrm>
          <a:prstGeom prst="rect">
            <a:avLst/>
          </a:prstGeom>
        </p:spPr>
      </p:pic>
      <p:sp>
        <p:nvSpPr>
          <p:cNvPr id="30" name="Text 22"/>
          <p:cNvSpPr txBox="1"/>
          <p:nvPr/>
        </p:nvSpPr>
        <p:spPr>
          <a:xfrm>
            <a:off x="5074920" y="4087368"/>
            <a:ext cx="2651760" cy="274320"/>
          </a:xfrm>
          <a:prstGeom prst="rect">
            <a:avLst/>
          </a:prstGeom>
          <a:noFill/>
          <a:ln/>
        </p:spPr>
        <p:txBody>
          <a:bodyPr wrap="square" lIns="0" tIns="0" rIns="0" bIns="0" rtlCol="0" anchor="t"/>
          <a:lstStyle/>
          <a:p>
            <a:pPr marL="0" indent="0">
              <a:buNone/>
            </a:pPr>
            <a:r>
              <a:rPr lang="en-US" sz="1500" b="1" dirty="0">
                <a:solidFill>
                  <a:schemeClr val="tx2"/>
                </a:solidFill>
              </a:rPr>
              <a:t>Hardware in the open</a:t>
            </a:r>
            <a:endParaRPr lang="en-US" sz="1500" dirty="0"/>
          </a:p>
        </p:txBody>
      </p:sp>
      <p:sp>
        <p:nvSpPr>
          <p:cNvPr id="31" name="Text 23"/>
          <p:cNvSpPr txBox="1"/>
          <p:nvPr/>
        </p:nvSpPr>
        <p:spPr>
          <a:xfrm>
            <a:off x="5074920" y="4389120"/>
            <a:ext cx="2651760" cy="594360"/>
          </a:xfrm>
          <a:prstGeom prst="rect">
            <a:avLst/>
          </a:prstGeom>
          <a:noFill/>
          <a:ln/>
        </p:spPr>
        <p:txBody>
          <a:bodyPr wrap="square" lIns="0" tIns="0" rIns="0" bIns="0" rtlCol="0" anchor="t"/>
          <a:lstStyle/>
          <a:p>
            <a:pPr marL="0" indent="0">
              <a:buNone/>
            </a:pPr>
            <a:r>
              <a:rPr lang="en-US" sz="1300" dirty="0">
                <a:solidFill>
                  <a:schemeClr val="tx1"/>
                </a:solidFill>
              </a:rPr>
              <a:t>Weather, power and cost all limit a field device</a:t>
            </a:r>
            <a:endParaRPr lang="en-US" sz="1300" dirty="0"/>
          </a:p>
        </p:txBody>
      </p:sp>
      <p:sp>
        <p:nvSpPr>
          <p:cNvPr id="32" name="problem 6"/>
          <p:cNvSpPr/>
          <p:nvPr/>
        </p:nvSpPr>
        <p:spPr>
          <a:xfrm>
            <a:off x="8001000" y="3931920"/>
            <a:ext cx="3639312" cy="1143000"/>
          </a:xfrm>
          <a:prstGeom prst="roundRect">
            <a:avLst>
              <a:gd name="adj" fmla="val 6400"/>
            </a:avLst>
          </a:prstGeom>
          <a:solidFill>
            <a:schemeClr val="bg2"/>
          </a:solidFill>
          <a:ln w="9525">
            <a:solidFill>
              <a:schemeClr val="bg2"/>
            </a:solidFill>
            <a:prstDash val="solid"/>
          </a:ln>
        </p:spPr>
      </p:sp>
      <p:sp>
        <p:nvSpPr>
          <p:cNvPr id="33" name="icon disc"/>
          <p:cNvSpPr/>
          <p:nvPr/>
        </p:nvSpPr>
        <p:spPr>
          <a:xfrm>
            <a:off x="8165592" y="4206240"/>
            <a:ext cx="566928" cy="566928"/>
          </a:xfrm>
          <a:prstGeom prst="ellipse">
            <a:avLst/>
          </a:prstGeom>
          <a:solidFill>
            <a:schemeClr val="bg1"/>
          </a:solidFill>
          <a:ln w="12700">
            <a:solidFill>
              <a:schemeClr val="bg1"/>
            </a:solidFill>
            <a:prstDash val="solid"/>
          </a:ln>
        </p:spPr>
      </p:sp>
      <p:pic>
        <p:nvPicPr>
          <p:cNvPr id="34" name="Image 6" descr="Parts that must agree"/>
          <p:cNvPicPr>
            <a:picLocks noChangeAspect="1"/>
          </p:cNvPicPr>
          <p:nvPr/>
        </p:nvPicPr>
        <p:blipFill>
          <a:blip r:embed="rId9"/>
          <a:stretch>
            <a:fillRect/>
          </a:stretch>
        </p:blipFill>
        <p:spPr>
          <a:xfrm>
            <a:off x="8311896" y="4352544"/>
            <a:ext cx="274320" cy="274320"/>
          </a:xfrm>
          <a:prstGeom prst="rect">
            <a:avLst/>
          </a:prstGeom>
        </p:spPr>
      </p:pic>
      <p:sp>
        <p:nvSpPr>
          <p:cNvPr id="35" name="Text 26"/>
          <p:cNvSpPr txBox="1"/>
          <p:nvPr/>
        </p:nvSpPr>
        <p:spPr>
          <a:xfrm>
            <a:off x="8869680" y="4087368"/>
            <a:ext cx="2651760" cy="274320"/>
          </a:xfrm>
          <a:prstGeom prst="rect">
            <a:avLst/>
          </a:prstGeom>
          <a:noFill/>
          <a:ln/>
        </p:spPr>
        <p:txBody>
          <a:bodyPr wrap="square" lIns="0" tIns="0" rIns="0" bIns="0" rtlCol="0" anchor="t"/>
          <a:lstStyle/>
          <a:p>
            <a:pPr marL="0" indent="0">
              <a:buNone/>
            </a:pPr>
            <a:r>
              <a:rPr lang="en-US" sz="1500" b="1" dirty="0">
                <a:solidFill>
                  <a:schemeClr val="tx2"/>
                </a:solidFill>
              </a:rPr>
              <a:t>Parts that must agree</a:t>
            </a:r>
            <a:endParaRPr lang="en-US" sz="1500" dirty="0"/>
          </a:p>
        </p:txBody>
      </p:sp>
      <p:sp>
        <p:nvSpPr>
          <p:cNvPr id="36" name="Text 27"/>
          <p:cNvSpPr txBox="1"/>
          <p:nvPr/>
        </p:nvSpPr>
        <p:spPr>
          <a:xfrm>
            <a:off x="8869680" y="4389120"/>
            <a:ext cx="2651760" cy="594360"/>
          </a:xfrm>
          <a:prstGeom prst="rect">
            <a:avLst/>
          </a:prstGeom>
          <a:noFill/>
          <a:ln/>
        </p:spPr>
        <p:txBody>
          <a:bodyPr wrap="square" lIns="0" tIns="0" rIns="0" bIns="0" rtlCol="0" anchor="t"/>
          <a:lstStyle/>
          <a:p>
            <a:pPr marL="0" indent="0">
              <a:buNone/>
            </a:pPr>
            <a:r>
              <a:rPr lang="en-US" sz="1300" dirty="0">
                <a:solidFill>
                  <a:schemeClr val="tx1"/>
                </a:solidFill>
              </a:rPr>
              <a:t>Detection, radio, location, app and portal as one system</a:t>
            </a:r>
            <a:endParaRPr lang="en-US" sz="1300" dirty="0"/>
          </a:p>
        </p:txBody>
      </p:sp>
      <p:sp>
        <p:nvSpPr>
          <p:cNvPr id="37" name="statement box"/>
          <p:cNvSpPr/>
          <p:nvPr/>
        </p:nvSpPr>
        <p:spPr>
          <a:xfrm>
            <a:off x="548640" y="5440680"/>
            <a:ext cx="11091672" cy="777240"/>
          </a:xfrm>
          <a:prstGeom prst="roundRect">
            <a:avLst>
              <a:gd name="adj" fmla="val 9412"/>
            </a:avLst>
          </a:prstGeom>
          <a:solidFill>
            <a:schemeClr val="accent2">
              <a:alpha val="15000"/>
            </a:schemeClr>
          </a:solidFill>
          <a:ln w="9525">
            <a:solidFill>
              <a:schemeClr val="accent2"/>
            </a:solidFill>
            <a:prstDash val="solid"/>
          </a:ln>
        </p:spPr>
      </p:sp>
      <p:sp>
        <p:nvSpPr>
          <p:cNvPr id="38" name="Text 29"/>
          <p:cNvSpPr txBox="1"/>
          <p:nvPr/>
        </p:nvSpPr>
        <p:spPr>
          <a:xfrm>
            <a:off x="777240" y="5440680"/>
            <a:ext cx="10652760" cy="777240"/>
          </a:xfrm>
          <a:prstGeom prst="rect">
            <a:avLst/>
          </a:prstGeom>
          <a:noFill/>
          <a:ln/>
        </p:spPr>
        <p:txBody>
          <a:bodyPr wrap="square" lIns="0" tIns="0" rIns="0" bIns="0" rtlCol="0" anchor="ctr"/>
          <a:lstStyle/>
          <a:p>
            <a:pPr marL="0" indent="0">
              <a:buNone/>
            </a:pPr>
            <a:r>
              <a:rPr lang="en-US" sz="1500" b="1" dirty="0">
                <a:solidFill>
                  <a:schemeClr val="accent4"/>
                </a:solidFill>
              </a:rPr>
              <a:t>Problem statement:  </a:t>
            </a:r>
            <a:r>
              <a:rPr lang="en-US" sz="1500" dirty="0">
                <a:solidFill>
                  <a:schemeClr val="tx1"/>
                </a:solidFill>
              </a:rPr>
              <a:t>warn people early and reliably about predators near settlements, even without internet, while keeping the animal's exact position away from the public.</a:t>
            </a:r>
            <a:endParaRPr lang="en-US" sz="1500" dirty="0"/>
          </a:p>
        </p:txBody>
      </p:sp>
      <p:sp>
        <p:nvSpPr>
          <p:cNvPr id="39"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Fourteen weeks, start to finish</a:t>
            </a:r>
            <a:endParaRPr lang="en-US" sz="3400" dirty="0"/>
          </a:p>
        </p:txBody>
      </p:sp>
      <p:sp>
        <p:nvSpPr>
          <p:cNvPr id="3" name="timeline axis"/>
          <p:cNvSpPr/>
          <p:nvPr/>
        </p:nvSpPr>
        <p:spPr>
          <a:xfrm>
            <a:off x="1463040" y="1847088"/>
            <a:ext cx="9052560" cy="0"/>
          </a:xfrm>
          <a:prstGeom prst="line">
            <a:avLst/>
          </a:prstGeom>
          <a:noFill/>
          <a:ln w="25400">
            <a:solidFill>
              <a:schemeClr val="accent3"/>
            </a:solidFill>
            <a:prstDash val="solid"/>
          </a:ln>
        </p:spPr>
      </p:sp>
      <p:sp>
        <p:nvSpPr>
          <p:cNvPr id="4" name="stage dot 1"/>
          <p:cNvSpPr/>
          <p:nvPr/>
        </p:nvSpPr>
        <p:spPr>
          <a:xfrm>
            <a:off x="1344168" y="1728216"/>
            <a:ext cx="237744" cy="237744"/>
          </a:xfrm>
          <a:prstGeom prst="ellipse">
            <a:avLst/>
          </a:prstGeom>
          <a:solidFill>
            <a:schemeClr val="accent1"/>
          </a:solidFill>
          <a:ln w="19050">
            <a:solidFill>
              <a:schemeClr val="bg1"/>
            </a:solidFill>
            <a:prstDash val="solid"/>
          </a:ln>
        </p:spPr>
      </p:sp>
      <p:sp>
        <p:nvSpPr>
          <p:cNvPr id="5" name="Text 3"/>
          <p:cNvSpPr txBox="1"/>
          <p:nvPr/>
        </p:nvSpPr>
        <p:spPr>
          <a:xfrm>
            <a:off x="594360" y="1325880"/>
            <a:ext cx="1737360" cy="274320"/>
          </a:xfrm>
          <a:prstGeom prst="rect">
            <a:avLst/>
          </a:prstGeom>
          <a:noFill/>
          <a:ln/>
        </p:spPr>
        <p:txBody>
          <a:bodyPr wrap="square" lIns="0" tIns="0" rIns="0" bIns="0" rtlCol="0" anchor="t"/>
          <a:lstStyle/>
          <a:p>
            <a:pPr marL="0" indent="0" algn="ctr">
              <a:buNone/>
            </a:pPr>
            <a:r>
              <a:rPr lang="en-US" sz="1300" b="1" dirty="0">
                <a:solidFill>
                  <a:schemeClr val="accent4"/>
                </a:solidFill>
              </a:rPr>
              <a:t>1-15 Jul</a:t>
            </a:r>
            <a:endParaRPr lang="en-US" sz="1300" dirty="0"/>
          </a:p>
        </p:txBody>
      </p:sp>
      <p:sp>
        <p:nvSpPr>
          <p:cNvPr id="6" name="Text 4"/>
          <p:cNvSpPr txBox="1"/>
          <p:nvPr/>
        </p:nvSpPr>
        <p:spPr>
          <a:xfrm>
            <a:off x="594360" y="2103120"/>
            <a:ext cx="1737360" cy="274320"/>
          </a:xfrm>
          <a:prstGeom prst="rect">
            <a:avLst/>
          </a:prstGeom>
          <a:noFill/>
          <a:ln/>
        </p:spPr>
        <p:txBody>
          <a:bodyPr wrap="square" lIns="0" tIns="0" rIns="0" bIns="0" rtlCol="0" anchor="t"/>
          <a:lstStyle/>
          <a:p>
            <a:pPr marL="0" indent="0" algn="ctr">
              <a:buNone/>
            </a:pPr>
            <a:r>
              <a:rPr lang="en-US" sz="1500" b="1" dirty="0">
                <a:solidFill>
                  <a:schemeClr val="tx2"/>
                </a:solidFill>
              </a:rPr>
              <a:t>Meet the NGO</a:t>
            </a:r>
            <a:endParaRPr lang="en-US" sz="1500" dirty="0"/>
          </a:p>
        </p:txBody>
      </p:sp>
      <p:sp>
        <p:nvSpPr>
          <p:cNvPr id="7" name="Text 5"/>
          <p:cNvSpPr txBox="1"/>
          <p:nvPr/>
        </p:nvSpPr>
        <p:spPr>
          <a:xfrm>
            <a:off x="594360" y="2395728"/>
            <a:ext cx="1737360" cy="731520"/>
          </a:xfrm>
          <a:prstGeom prst="rect">
            <a:avLst/>
          </a:prstGeom>
          <a:noFill/>
          <a:ln/>
        </p:spPr>
        <p:txBody>
          <a:bodyPr wrap="square" lIns="0" tIns="0" rIns="0" bIns="0" rtlCol="0" anchor="t"/>
          <a:lstStyle/>
          <a:p>
            <a:pPr marL="0" indent="0" algn="ctr">
              <a:buNone/>
            </a:pPr>
            <a:r>
              <a:rPr lang="en-US" sz="1200" dirty="0">
                <a:solidFill>
                  <a:schemeClr val="tx1"/>
                </a:solidFill>
              </a:rPr>
              <a:t>First online meeting; how the NGO works</a:t>
            </a:r>
            <a:endParaRPr lang="en-US" sz="1200" dirty="0"/>
          </a:p>
        </p:txBody>
      </p:sp>
      <p:sp>
        <p:nvSpPr>
          <p:cNvPr id="8" name="stage dot 2"/>
          <p:cNvSpPr/>
          <p:nvPr/>
        </p:nvSpPr>
        <p:spPr>
          <a:xfrm>
            <a:off x="3154680" y="1728216"/>
            <a:ext cx="237744" cy="237744"/>
          </a:xfrm>
          <a:prstGeom prst="ellipse">
            <a:avLst/>
          </a:prstGeom>
          <a:solidFill>
            <a:schemeClr val="accent1"/>
          </a:solidFill>
          <a:ln w="19050">
            <a:solidFill>
              <a:schemeClr val="bg1"/>
            </a:solidFill>
            <a:prstDash val="solid"/>
          </a:ln>
        </p:spPr>
      </p:sp>
      <p:sp>
        <p:nvSpPr>
          <p:cNvPr id="9" name="Text 7"/>
          <p:cNvSpPr txBox="1"/>
          <p:nvPr/>
        </p:nvSpPr>
        <p:spPr>
          <a:xfrm>
            <a:off x="2404872" y="1325880"/>
            <a:ext cx="1737360" cy="274320"/>
          </a:xfrm>
          <a:prstGeom prst="rect">
            <a:avLst/>
          </a:prstGeom>
          <a:noFill/>
          <a:ln/>
        </p:spPr>
        <p:txBody>
          <a:bodyPr wrap="square" lIns="0" tIns="0" rIns="0" bIns="0" rtlCol="0" anchor="t"/>
          <a:lstStyle/>
          <a:p>
            <a:pPr marL="0" indent="0" algn="ctr">
              <a:buNone/>
            </a:pPr>
            <a:r>
              <a:rPr lang="en-US" sz="1300" b="1" dirty="0">
                <a:solidFill>
                  <a:schemeClr val="accent4"/>
                </a:solidFill>
              </a:rPr>
              <a:t>15-31 Jul</a:t>
            </a:r>
            <a:endParaRPr lang="en-US" sz="1300" dirty="0"/>
          </a:p>
        </p:txBody>
      </p:sp>
      <p:sp>
        <p:nvSpPr>
          <p:cNvPr id="10" name="Text 8"/>
          <p:cNvSpPr txBox="1"/>
          <p:nvPr/>
        </p:nvSpPr>
        <p:spPr>
          <a:xfrm>
            <a:off x="2404872" y="2103120"/>
            <a:ext cx="1737360" cy="274320"/>
          </a:xfrm>
          <a:prstGeom prst="rect">
            <a:avLst/>
          </a:prstGeom>
          <a:noFill/>
          <a:ln/>
        </p:spPr>
        <p:txBody>
          <a:bodyPr wrap="square" lIns="0" tIns="0" rIns="0" bIns="0" rtlCol="0" anchor="t"/>
          <a:lstStyle/>
          <a:p>
            <a:pPr marL="0" indent="0" algn="ctr">
              <a:buNone/>
            </a:pPr>
            <a:r>
              <a:rPr lang="en-US" sz="1500" b="1" dirty="0">
                <a:solidFill>
                  <a:schemeClr val="tx2"/>
                </a:solidFill>
              </a:rPr>
              <a:t>Research</a:t>
            </a:r>
            <a:endParaRPr lang="en-US" sz="1500" dirty="0"/>
          </a:p>
        </p:txBody>
      </p:sp>
      <p:sp>
        <p:nvSpPr>
          <p:cNvPr id="11" name="Text 9"/>
          <p:cNvSpPr txBox="1"/>
          <p:nvPr/>
        </p:nvSpPr>
        <p:spPr>
          <a:xfrm>
            <a:off x="2404872" y="2395728"/>
            <a:ext cx="1737360" cy="731520"/>
          </a:xfrm>
          <a:prstGeom prst="rect">
            <a:avLst/>
          </a:prstGeom>
          <a:noFill/>
          <a:ln/>
        </p:spPr>
        <p:txBody>
          <a:bodyPr wrap="square" lIns="0" tIns="0" rIns="0" bIns="0" rtlCol="0" anchor="t"/>
          <a:lstStyle/>
          <a:p>
            <a:pPr marL="0" indent="0" algn="ctr">
              <a:buNone/>
            </a:pPr>
            <a:r>
              <a:rPr lang="en-US" sz="1200" dirty="0">
                <a:solidFill>
                  <a:schemeClr val="tx1"/>
                </a:solidFill>
              </a:rPr>
              <a:t>Office visit; AI and technology ideas</a:t>
            </a:r>
            <a:endParaRPr lang="en-US" sz="1200" dirty="0"/>
          </a:p>
        </p:txBody>
      </p:sp>
      <p:sp>
        <p:nvSpPr>
          <p:cNvPr id="12" name="stage dot 3"/>
          <p:cNvSpPr/>
          <p:nvPr/>
        </p:nvSpPr>
        <p:spPr>
          <a:xfrm>
            <a:off x="4965192" y="1728216"/>
            <a:ext cx="237744" cy="237744"/>
          </a:xfrm>
          <a:prstGeom prst="ellipse">
            <a:avLst/>
          </a:prstGeom>
          <a:solidFill>
            <a:schemeClr val="accent1"/>
          </a:solidFill>
          <a:ln w="19050">
            <a:solidFill>
              <a:schemeClr val="bg1"/>
            </a:solidFill>
            <a:prstDash val="solid"/>
          </a:ln>
        </p:spPr>
      </p:sp>
      <p:sp>
        <p:nvSpPr>
          <p:cNvPr id="13" name="Text 11"/>
          <p:cNvSpPr txBox="1"/>
          <p:nvPr/>
        </p:nvSpPr>
        <p:spPr>
          <a:xfrm>
            <a:off x="4215384" y="1325880"/>
            <a:ext cx="1737360" cy="274320"/>
          </a:xfrm>
          <a:prstGeom prst="rect">
            <a:avLst/>
          </a:prstGeom>
          <a:noFill/>
          <a:ln/>
        </p:spPr>
        <p:txBody>
          <a:bodyPr wrap="square" lIns="0" tIns="0" rIns="0" bIns="0" rtlCol="0" anchor="t"/>
          <a:lstStyle/>
          <a:p>
            <a:pPr marL="0" indent="0" algn="ctr">
              <a:buNone/>
            </a:pPr>
            <a:r>
              <a:rPr lang="en-US" sz="1300" b="1" dirty="0">
                <a:solidFill>
                  <a:schemeClr val="accent4"/>
                </a:solidFill>
              </a:rPr>
              <a:t>Aug</a:t>
            </a:r>
            <a:endParaRPr lang="en-US" sz="1300" dirty="0"/>
          </a:p>
        </p:txBody>
      </p:sp>
      <p:sp>
        <p:nvSpPr>
          <p:cNvPr id="14" name="Text 12"/>
          <p:cNvSpPr txBox="1"/>
          <p:nvPr/>
        </p:nvSpPr>
        <p:spPr>
          <a:xfrm>
            <a:off x="4215384" y="2103120"/>
            <a:ext cx="1737360" cy="274320"/>
          </a:xfrm>
          <a:prstGeom prst="rect">
            <a:avLst/>
          </a:prstGeom>
          <a:noFill/>
          <a:ln/>
        </p:spPr>
        <p:txBody>
          <a:bodyPr wrap="square" lIns="0" tIns="0" rIns="0" bIns="0" rtlCol="0" anchor="t"/>
          <a:lstStyle/>
          <a:p>
            <a:pPr marL="0" indent="0" algn="ctr">
              <a:buNone/>
            </a:pPr>
            <a:r>
              <a:rPr lang="en-US" sz="1500" b="1" dirty="0">
                <a:solidFill>
                  <a:schemeClr val="tx2"/>
                </a:solidFill>
              </a:rPr>
              <a:t>Pick and plan</a:t>
            </a:r>
            <a:endParaRPr lang="en-US" sz="1500" dirty="0"/>
          </a:p>
        </p:txBody>
      </p:sp>
      <p:sp>
        <p:nvSpPr>
          <p:cNvPr id="15" name="Text 13"/>
          <p:cNvSpPr txBox="1"/>
          <p:nvPr/>
        </p:nvSpPr>
        <p:spPr>
          <a:xfrm>
            <a:off x="4215384" y="2395728"/>
            <a:ext cx="1737360" cy="731520"/>
          </a:xfrm>
          <a:prstGeom prst="rect">
            <a:avLst/>
          </a:prstGeom>
          <a:noFill/>
          <a:ln/>
        </p:spPr>
        <p:txBody>
          <a:bodyPr wrap="square" lIns="0" tIns="0" rIns="0" bIns="0" rtlCol="0" anchor="t"/>
          <a:lstStyle/>
          <a:p>
            <a:pPr marL="0" indent="0" algn="ctr">
              <a:buNone/>
            </a:pPr>
            <a:r>
              <a:rPr lang="en-US" sz="1200" dirty="0">
                <a:solidFill>
                  <a:schemeClr val="tx1"/>
                </a:solidFill>
              </a:rPr>
              <a:t>Community issue study; topic; hardware needs</a:t>
            </a:r>
            <a:endParaRPr lang="en-US" sz="1200" dirty="0"/>
          </a:p>
        </p:txBody>
      </p:sp>
      <p:sp>
        <p:nvSpPr>
          <p:cNvPr id="16" name="stage dot 4"/>
          <p:cNvSpPr/>
          <p:nvPr/>
        </p:nvSpPr>
        <p:spPr>
          <a:xfrm>
            <a:off x="6775704" y="1728216"/>
            <a:ext cx="237744" cy="237744"/>
          </a:xfrm>
          <a:prstGeom prst="ellipse">
            <a:avLst/>
          </a:prstGeom>
          <a:solidFill>
            <a:schemeClr val="accent1"/>
          </a:solidFill>
          <a:ln w="19050">
            <a:solidFill>
              <a:schemeClr val="bg1"/>
            </a:solidFill>
            <a:prstDash val="solid"/>
          </a:ln>
        </p:spPr>
      </p:sp>
      <p:sp>
        <p:nvSpPr>
          <p:cNvPr id="17" name="Text 15"/>
          <p:cNvSpPr txBox="1"/>
          <p:nvPr/>
        </p:nvSpPr>
        <p:spPr>
          <a:xfrm>
            <a:off x="6025896" y="1325880"/>
            <a:ext cx="1737360" cy="274320"/>
          </a:xfrm>
          <a:prstGeom prst="rect">
            <a:avLst/>
          </a:prstGeom>
          <a:noFill/>
          <a:ln/>
        </p:spPr>
        <p:txBody>
          <a:bodyPr wrap="square" lIns="0" tIns="0" rIns="0" bIns="0" rtlCol="0" anchor="t"/>
          <a:lstStyle/>
          <a:p>
            <a:pPr marL="0" indent="0" algn="ctr">
              <a:buNone/>
            </a:pPr>
            <a:r>
              <a:rPr lang="en-US" sz="1300" b="1" dirty="0">
                <a:solidFill>
                  <a:schemeClr val="accent4"/>
                </a:solidFill>
              </a:rPr>
              <a:t>1-15 Sep</a:t>
            </a:r>
            <a:endParaRPr lang="en-US" sz="1300" dirty="0"/>
          </a:p>
        </p:txBody>
      </p:sp>
      <p:sp>
        <p:nvSpPr>
          <p:cNvPr id="18" name="Text 16"/>
          <p:cNvSpPr txBox="1"/>
          <p:nvPr/>
        </p:nvSpPr>
        <p:spPr>
          <a:xfrm>
            <a:off x="6025896" y="2103120"/>
            <a:ext cx="1737360" cy="274320"/>
          </a:xfrm>
          <a:prstGeom prst="rect">
            <a:avLst/>
          </a:prstGeom>
          <a:noFill/>
          <a:ln/>
        </p:spPr>
        <p:txBody>
          <a:bodyPr wrap="square" lIns="0" tIns="0" rIns="0" bIns="0" rtlCol="0" anchor="t"/>
          <a:lstStyle/>
          <a:p>
            <a:pPr marL="0" indent="0" algn="ctr">
              <a:buNone/>
            </a:pPr>
            <a:r>
              <a:rPr lang="en-US" sz="1500" b="1" dirty="0">
                <a:solidFill>
                  <a:schemeClr val="tx2"/>
                </a:solidFill>
              </a:rPr>
              <a:t>Build the app</a:t>
            </a:r>
            <a:endParaRPr lang="en-US" sz="1500" dirty="0"/>
          </a:p>
        </p:txBody>
      </p:sp>
      <p:sp>
        <p:nvSpPr>
          <p:cNvPr id="19" name="Text 17"/>
          <p:cNvSpPr txBox="1"/>
          <p:nvPr/>
        </p:nvSpPr>
        <p:spPr>
          <a:xfrm>
            <a:off x="6025896" y="2395728"/>
            <a:ext cx="1737360" cy="731520"/>
          </a:xfrm>
          <a:prstGeom prst="rect">
            <a:avLst/>
          </a:prstGeom>
          <a:noFill/>
          <a:ln/>
        </p:spPr>
        <p:txBody>
          <a:bodyPr wrap="square" lIns="0" tIns="0" rIns="0" bIns="0" rtlCol="0" anchor="t"/>
          <a:lstStyle/>
          <a:p>
            <a:pPr marL="0" indent="0" algn="ctr">
              <a:buNone/>
            </a:pPr>
            <a:r>
              <a:rPr lang="en-US" sz="1200" dirty="0">
                <a:solidFill>
                  <a:schemeClr val="tx1"/>
                </a:solidFill>
              </a:rPr>
              <a:t>Sighting capture, alerts, SMS notice, map</a:t>
            </a:r>
            <a:endParaRPr lang="en-US" sz="1200" dirty="0"/>
          </a:p>
        </p:txBody>
      </p:sp>
      <p:sp>
        <p:nvSpPr>
          <p:cNvPr id="20" name="stage dot 5"/>
          <p:cNvSpPr/>
          <p:nvPr/>
        </p:nvSpPr>
        <p:spPr>
          <a:xfrm>
            <a:off x="8586216" y="1728216"/>
            <a:ext cx="237744" cy="237744"/>
          </a:xfrm>
          <a:prstGeom prst="ellipse">
            <a:avLst/>
          </a:prstGeom>
          <a:solidFill>
            <a:schemeClr val="accent1"/>
          </a:solidFill>
          <a:ln w="19050">
            <a:solidFill>
              <a:schemeClr val="bg1"/>
            </a:solidFill>
            <a:prstDash val="solid"/>
          </a:ln>
        </p:spPr>
      </p:sp>
      <p:sp>
        <p:nvSpPr>
          <p:cNvPr id="21" name="Text 19"/>
          <p:cNvSpPr txBox="1"/>
          <p:nvPr/>
        </p:nvSpPr>
        <p:spPr>
          <a:xfrm>
            <a:off x="7836408" y="1325880"/>
            <a:ext cx="1737360" cy="274320"/>
          </a:xfrm>
          <a:prstGeom prst="rect">
            <a:avLst/>
          </a:prstGeom>
          <a:noFill/>
          <a:ln/>
        </p:spPr>
        <p:txBody>
          <a:bodyPr wrap="square" lIns="0" tIns="0" rIns="0" bIns="0" rtlCol="0" anchor="t"/>
          <a:lstStyle/>
          <a:p>
            <a:pPr marL="0" indent="0" algn="ctr">
              <a:buNone/>
            </a:pPr>
            <a:r>
              <a:rPr lang="en-US" sz="1300" b="1" dirty="0">
                <a:solidFill>
                  <a:schemeClr val="accent4"/>
                </a:solidFill>
              </a:rPr>
              <a:t>15-30 Sep</a:t>
            </a:r>
            <a:endParaRPr lang="en-US" sz="1300" dirty="0"/>
          </a:p>
        </p:txBody>
      </p:sp>
      <p:sp>
        <p:nvSpPr>
          <p:cNvPr id="22" name="Text 20"/>
          <p:cNvSpPr txBox="1"/>
          <p:nvPr/>
        </p:nvSpPr>
        <p:spPr>
          <a:xfrm>
            <a:off x="7836408" y="2103120"/>
            <a:ext cx="1737360" cy="274320"/>
          </a:xfrm>
          <a:prstGeom prst="rect">
            <a:avLst/>
          </a:prstGeom>
          <a:noFill/>
          <a:ln/>
        </p:spPr>
        <p:txBody>
          <a:bodyPr wrap="square" lIns="0" tIns="0" rIns="0" bIns="0" rtlCol="0" anchor="t"/>
          <a:lstStyle/>
          <a:p>
            <a:pPr marL="0" indent="0" algn="ctr">
              <a:buNone/>
            </a:pPr>
            <a:r>
              <a:rPr lang="en-US" sz="1500" b="1" dirty="0">
                <a:solidFill>
                  <a:schemeClr val="tx2"/>
                </a:solidFill>
              </a:rPr>
              <a:t>Portal + hardware</a:t>
            </a:r>
            <a:endParaRPr lang="en-US" sz="1500" dirty="0"/>
          </a:p>
        </p:txBody>
      </p:sp>
      <p:sp>
        <p:nvSpPr>
          <p:cNvPr id="23" name="Text 21"/>
          <p:cNvSpPr txBox="1"/>
          <p:nvPr/>
        </p:nvSpPr>
        <p:spPr>
          <a:xfrm>
            <a:off x="7836408" y="2395728"/>
            <a:ext cx="1737360" cy="731520"/>
          </a:xfrm>
          <a:prstGeom prst="rect">
            <a:avLst/>
          </a:prstGeom>
          <a:noFill/>
          <a:ln/>
        </p:spPr>
        <p:txBody>
          <a:bodyPr wrap="square" lIns="0" tIns="0" rIns="0" bIns="0" rtlCol="0" anchor="t"/>
          <a:lstStyle/>
          <a:p>
            <a:pPr marL="0" indent="0" algn="ctr">
              <a:buNone/>
            </a:pPr>
            <a:r>
              <a:rPr lang="en-US" sz="1200" dirty="0">
                <a:solidFill>
                  <a:schemeClr val="tx1"/>
                </a:solidFill>
              </a:rPr>
              <a:t>Staff portal; LoRa clusters; Wokwi begins</a:t>
            </a:r>
            <a:endParaRPr lang="en-US" sz="1200" dirty="0"/>
          </a:p>
        </p:txBody>
      </p:sp>
      <p:sp>
        <p:nvSpPr>
          <p:cNvPr id="24" name="stage dot 6"/>
          <p:cNvSpPr/>
          <p:nvPr/>
        </p:nvSpPr>
        <p:spPr>
          <a:xfrm>
            <a:off x="10396728" y="1728216"/>
            <a:ext cx="237744" cy="237744"/>
          </a:xfrm>
          <a:prstGeom prst="ellipse">
            <a:avLst/>
          </a:prstGeom>
          <a:solidFill>
            <a:schemeClr val="accent2"/>
          </a:solidFill>
          <a:ln w="19050">
            <a:solidFill>
              <a:schemeClr val="bg1"/>
            </a:solidFill>
            <a:prstDash val="solid"/>
          </a:ln>
        </p:spPr>
      </p:sp>
      <p:sp>
        <p:nvSpPr>
          <p:cNvPr id="25" name="Text 23"/>
          <p:cNvSpPr txBox="1"/>
          <p:nvPr/>
        </p:nvSpPr>
        <p:spPr>
          <a:xfrm>
            <a:off x="9646920" y="1325880"/>
            <a:ext cx="1737360" cy="274320"/>
          </a:xfrm>
          <a:prstGeom prst="rect">
            <a:avLst/>
          </a:prstGeom>
          <a:noFill/>
          <a:ln/>
        </p:spPr>
        <p:txBody>
          <a:bodyPr wrap="square" lIns="0" tIns="0" rIns="0" bIns="0" rtlCol="0" anchor="t"/>
          <a:lstStyle/>
          <a:p>
            <a:pPr marL="0" indent="0" algn="ctr">
              <a:buNone/>
            </a:pPr>
            <a:r>
              <a:rPr lang="en-US" sz="1300" b="1" dirty="0">
                <a:solidFill>
                  <a:schemeClr val="accent4"/>
                </a:solidFill>
              </a:rPr>
              <a:t>1-17 Oct</a:t>
            </a:r>
            <a:endParaRPr lang="en-US" sz="1300" dirty="0"/>
          </a:p>
        </p:txBody>
      </p:sp>
      <p:sp>
        <p:nvSpPr>
          <p:cNvPr id="26" name="Text 24"/>
          <p:cNvSpPr txBox="1"/>
          <p:nvPr/>
        </p:nvSpPr>
        <p:spPr>
          <a:xfrm>
            <a:off x="9646920" y="2103120"/>
            <a:ext cx="1737360" cy="274320"/>
          </a:xfrm>
          <a:prstGeom prst="rect">
            <a:avLst/>
          </a:prstGeom>
          <a:noFill/>
          <a:ln/>
        </p:spPr>
        <p:txBody>
          <a:bodyPr wrap="square" lIns="0" tIns="0" rIns="0" bIns="0" rtlCol="0" anchor="t"/>
          <a:lstStyle/>
          <a:p>
            <a:pPr marL="0" indent="0" algn="ctr">
              <a:buNone/>
            </a:pPr>
            <a:r>
              <a:rPr lang="en-US" sz="1500" b="1" dirty="0">
                <a:solidFill>
                  <a:schemeClr val="tx2"/>
                </a:solidFill>
              </a:rPr>
              <a:t>Code and hand over</a:t>
            </a:r>
            <a:endParaRPr lang="en-US" sz="1500" dirty="0"/>
          </a:p>
        </p:txBody>
      </p:sp>
      <p:sp>
        <p:nvSpPr>
          <p:cNvPr id="27" name="Text 25"/>
          <p:cNvSpPr txBox="1"/>
          <p:nvPr/>
        </p:nvSpPr>
        <p:spPr>
          <a:xfrm>
            <a:off x="9646920" y="2395728"/>
            <a:ext cx="1737360" cy="731520"/>
          </a:xfrm>
          <a:prstGeom prst="rect">
            <a:avLst/>
          </a:prstGeom>
          <a:noFill/>
          <a:ln/>
        </p:spPr>
        <p:txBody>
          <a:bodyPr wrap="square" lIns="0" tIns="0" rIns="0" bIns="0" rtlCol="0" anchor="t"/>
          <a:lstStyle/>
          <a:p>
            <a:pPr marL="0" indent="0" algn="ctr">
              <a:buNone/>
            </a:pPr>
            <a:r>
              <a:rPr lang="en-US" sz="1200" dirty="0">
                <a:solidFill>
                  <a:schemeClr val="tx1"/>
                </a:solidFill>
              </a:rPr>
              <a:t>Circuit, power, code, tests, documents</a:t>
            </a:r>
            <a:endParaRPr lang="en-US" sz="1200" dirty="0"/>
          </a:p>
        </p:txBody>
      </p:sp>
      <p:graphicFrame>
        <p:nvGraphicFramePr>
          <p:cNvPr id="28" name="hours chart"/>
          <p:cNvGraphicFramePr/>
          <p:nvPr/>
        </p:nvGraphicFramePr>
        <p:xfrm>
          <a:off x="548640" y="3291840"/>
          <a:ext cx="73152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29" name="stat 1"/>
          <p:cNvSpPr/>
          <p:nvPr/>
        </p:nvSpPr>
        <p:spPr>
          <a:xfrm>
            <a:off x="8229600" y="3337560"/>
            <a:ext cx="3410712" cy="868680"/>
          </a:xfrm>
          <a:prstGeom prst="roundRect">
            <a:avLst>
              <a:gd name="adj" fmla="val 8421"/>
            </a:avLst>
          </a:prstGeom>
          <a:solidFill>
            <a:schemeClr val="bg2"/>
          </a:solidFill>
          <a:ln w="9525">
            <a:solidFill>
              <a:schemeClr val="bg2"/>
            </a:solidFill>
            <a:prstDash val="solid"/>
          </a:ln>
        </p:spPr>
      </p:sp>
      <p:sp>
        <p:nvSpPr>
          <p:cNvPr id="30" name="Text 27"/>
          <p:cNvSpPr txBox="1"/>
          <p:nvPr/>
        </p:nvSpPr>
        <p:spPr>
          <a:xfrm>
            <a:off x="8412480" y="3337560"/>
            <a:ext cx="1280160" cy="86868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123</a:t>
            </a:r>
            <a:endParaRPr lang="en-US" sz="3800" dirty="0"/>
          </a:p>
        </p:txBody>
      </p:sp>
      <p:sp>
        <p:nvSpPr>
          <p:cNvPr id="31" name="Text 28"/>
          <p:cNvSpPr txBox="1"/>
          <p:nvPr/>
        </p:nvSpPr>
        <p:spPr>
          <a:xfrm>
            <a:off x="9646920" y="3337560"/>
            <a:ext cx="1920240" cy="868680"/>
          </a:xfrm>
          <a:prstGeom prst="rect">
            <a:avLst/>
          </a:prstGeom>
          <a:noFill/>
          <a:ln/>
        </p:spPr>
        <p:txBody>
          <a:bodyPr wrap="square" lIns="0" tIns="0" rIns="0" bIns="0" rtlCol="0" anchor="ctr"/>
          <a:lstStyle/>
          <a:p>
            <a:pPr marL="0" indent="0">
              <a:buNone/>
            </a:pPr>
            <a:r>
              <a:rPr lang="en-US" sz="1500" dirty="0">
                <a:solidFill>
                  <a:schemeClr val="tx1"/>
                </a:solidFill>
              </a:rPr>
              <a:t>verified hours</a:t>
            </a:r>
            <a:endParaRPr lang="en-US" sz="1500" dirty="0"/>
          </a:p>
        </p:txBody>
      </p:sp>
      <p:sp>
        <p:nvSpPr>
          <p:cNvPr id="32" name="stat 2"/>
          <p:cNvSpPr/>
          <p:nvPr/>
        </p:nvSpPr>
        <p:spPr>
          <a:xfrm>
            <a:off x="8229600" y="4315968"/>
            <a:ext cx="3410712" cy="868680"/>
          </a:xfrm>
          <a:prstGeom prst="roundRect">
            <a:avLst>
              <a:gd name="adj" fmla="val 8421"/>
            </a:avLst>
          </a:prstGeom>
          <a:solidFill>
            <a:schemeClr val="bg2"/>
          </a:solidFill>
          <a:ln w="9525">
            <a:solidFill>
              <a:schemeClr val="bg2"/>
            </a:solidFill>
            <a:prstDash val="solid"/>
          </a:ln>
        </p:spPr>
      </p:sp>
      <p:sp>
        <p:nvSpPr>
          <p:cNvPr id="33" name="Text 30"/>
          <p:cNvSpPr txBox="1"/>
          <p:nvPr/>
        </p:nvSpPr>
        <p:spPr>
          <a:xfrm>
            <a:off x="8412480" y="4315968"/>
            <a:ext cx="1280160" cy="86868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7</a:t>
            </a:r>
            <a:endParaRPr lang="en-US" sz="3800" dirty="0"/>
          </a:p>
        </p:txBody>
      </p:sp>
      <p:sp>
        <p:nvSpPr>
          <p:cNvPr id="34" name="Text 31"/>
          <p:cNvSpPr txBox="1"/>
          <p:nvPr/>
        </p:nvSpPr>
        <p:spPr>
          <a:xfrm>
            <a:off x="9646920" y="4315968"/>
            <a:ext cx="1920240" cy="868680"/>
          </a:xfrm>
          <a:prstGeom prst="rect">
            <a:avLst/>
          </a:prstGeom>
          <a:noFill/>
          <a:ln/>
        </p:spPr>
        <p:txBody>
          <a:bodyPr wrap="square" lIns="0" tIns="0" rIns="0" bIns="0" rtlCol="0" anchor="ctr"/>
          <a:lstStyle/>
          <a:p>
            <a:pPr marL="0" indent="0">
              <a:buNone/>
            </a:pPr>
            <a:r>
              <a:rPr lang="en-US" sz="1500" dirty="0">
                <a:solidFill>
                  <a:schemeClr val="tx1"/>
                </a:solidFill>
              </a:rPr>
              <a:t>progress reports</a:t>
            </a:r>
            <a:endParaRPr lang="en-US" sz="1500" dirty="0"/>
          </a:p>
        </p:txBody>
      </p:sp>
      <p:sp>
        <p:nvSpPr>
          <p:cNvPr id="35" name="stat 3"/>
          <p:cNvSpPr/>
          <p:nvPr/>
        </p:nvSpPr>
        <p:spPr>
          <a:xfrm>
            <a:off x="8229600" y="5294376"/>
            <a:ext cx="3410712" cy="868680"/>
          </a:xfrm>
          <a:prstGeom prst="roundRect">
            <a:avLst>
              <a:gd name="adj" fmla="val 8421"/>
            </a:avLst>
          </a:prstGeom>
          <a:solidFill>
            <a:schemeClr val="bg2"/>
          </a:solidFill>
          <a:ln w="9525">
            <a:solidFill>
              <a:schemeClr val="bg2"/>
            </a:solidFill>
            <a:prstDash val="solid"/>
          </a:ln>
        </p:spPr>
      </p:sp>
      <p:sp>
        <p:nvSpPr>
          <p:cNvPr id="36" name="Text 33"/>
          <p:cNvSpPr txBox="1"/>
          <p:nvPr/>
        </p:nvSpPr>
        <p:spPr>
          <a:xfrm>
            <a:off x="8412480" y="5294376"/>
            <a:ext cx="1280160" cy="86868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14</a:t>
            </a:r>
            <a:endParaRPr lang="en-US" sz="3800" dirty="0"/>
          </a:p>
        </p:txBody>
      </p:sp>
      <p:sp>
        <p:nvSpPr>
          <p:cNvPr id="37" name="Text 34"/>
          <p:cNvSpPr txBox="1"/>
          <p:nvPr/>
        </p:nvSpPr>
        <p:spPr>
          <a:xfrm>
            <a:off x="9646920" y="5294376"/>
            <a:ext cx="1920240" cy="868680"/>
          </a:xfrm>
          <a:prstGeom prst="rect">
            <a:avLst/>
          </a:prstGeom>
          <a:noFill/>
          <a:ln/>
        </p:spPr>
        <p:txBody>
          <a:bodyPr wrap="square" lIns="0" tIns="0" rIns="0" bIns="0" rtlCol="0" anchor="ctr"/>
          <a:lstStyle/>
          <a:p>
            <a:pPr marL="0" indent="0">
              <a:buNone/>
            </a:pPr>
            <a:r>
              <a:rPr lang="en-US" sz="1500" dirty="0">
                <a:solidFill>
                  <a:schemeClr val="tx1"/>
                </a:solidFill>
              </a:rPr>
              <a:t>signed logbook weeks</a:t>
            </a:r>
            <a:endParaRPr lang="en-US" sz="1500" dirty="0"/>
          </a:p>
        </p:txBody>
      </p:sp>
      <p:sp>
        <p:nvSpPr>
          <p:cNvPr id="38"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How the system works</a:t>
            </a:r>
            <a:endParaRPr lang="en-US" sz="3400" dirty="0"/>
          </a:p>
        </p:txBody>
      </p:sp>
      <p:sp>
        <p:nvSpPr>
          <p:cNvPr id="3" name="Text 1"/>
          <p:cNvSpPr txBox="1"/>
          <p:nvPr/>
        </p:nvSpPr>
        <p:spPr>
          <a:xfrm>
            <a:off x="548640" y="1325880"/>
            <a:ext cx="2194560" cy="274320"/>
          </a:xfrm>
          <a:prstGeom prst="rect">
            <a:avLst/>
          </a:prstGeom>
          <a:noFill/>
          <a:ln/>
        </p:spPr>
        <p:txBody>
          <a:bodyPr wrap="square" lIns="0" tIns="0" rIns="0" bIns="0" rtlCol="0" anchor="t"/>
          <a:lstStyle/>
          <a:p>
            <a:pPr marL="0" indent="0">
              <a:buNone/>
            </a:pPr>
            <a:r>
              <a:rPr lang="en-US" sz="1200" b="1" dirty="0">
                <a:solidFill>
                  <a:schemeClr val="accent6"/>
                </a:solidFill>
              </a:rPr>
              <a:t>SENSE</a:t>
            </a:r>
            <a:endParaRPr lang="en-US" sz="1200" dirty="0"/>
          </a:p>
        </p:txBody>
      </p:sp>
      <p:sp>
        <p:nvSpPr>
          <p:cNvPr id="4" name="sensor 1"/>
          <p:cNvSpPr/>
          <p:nvPr/>
        </p:nvSpPr>
        <p:spPr>
          <a:xfrm>
            <a:off x="548640" y="1645920"/>
            <a:ext cx="2286000" cy="594360"/>
          </a:xfrm>
          <a:prstGeom prst="roundRect">
            <a:avLst>
              <a:gd name="adj" fmla="val 10769"/>
            </a:avLst>
          </a:prstGeom>
          <a:solidFill>
            <a:schemeClr val="accent1"/>
          </a:solidFill>
          <a:ln w="12700">
            <a:solidFill>
              <a:schemeClr val="accent1"/>
            </a:solidFill>
            <a:prstDash val="solid"/>
          </a:ln>
        </p:spPr>
      </p:sp>
      <p:sp>
        <p:nvSpPr>
          <p:cNvPr id="5" name="Text 3"/>
          <p:cNvSpPr txBox="1"/>
          <p:nvPr/>
        </p:nvSpPr>
        <p:spPr>
          <a:xfrm>
            <a:off x="594360" y="1645920"/>
            <a:ext cx="2194560" cy="594360"/>
          </a:xfrm>
          <a:prstGeom prst="rect">
            <a:avLst/>
          </a:prstGeom>
          <a:noFill/>
          <a:ln/>
        </p:spPr>
        <p:txBody>
          <a:bodyPr wrap="square" lIns="0" tIns="0" rIns="0" bIns="0" rtlCol="0" anchor="ctr"/>
          <a:lstStyle/>
          <a:p>
            <a:pPr marL="0" indent="0" algn="ctr">
              <a:buNone/>
            </a:pPr>
            <a:r>
              <a:rPr lang="en-US" sz="1300" b="1" dirty="0">
                <a:solidFill>
                  <a:schemeClr val="bg1"/>
                </a:solidFill>
              </a:rPr>
              <a:t>AI vision + infrared camera</a:t>
            </a:r>
            <a:endParaRPr lang="en-US" sz="1300" dirty="0"/>
          </a:p>
        </p:txBody>
      </p:sp>
      <p:sp>
        <p:nvSpPr>
          <p:cNvPr id="6" name="arrow"/>
          <p:cNvSpPr/>
          <p:nvPr/>
        </p:nvSpPr>
        <p:spPr>
          <a:xfrm>
            <a:off x="2834640" y="1938528"/>
            <a:ext cx="502920" cy="1170432"/>
          </a:xfrm>
          <a:prstGeom prst="line">
            <a:avLst/>
          </a:prstGeom>
          <a:noFill/>
          <a:ln w="22225">
            <a:solidFill>
              <a:schemeClr val="accent6"/>
            </a:solidFill>
            <a:prstDash val="solid"/>
            <a:tailEnd type="triangle"/>
          </a:ln>
        </p:spPr>
      </p:sp>
      <p:sp>
        <p:nvSpPr>
          <p:cNvPr id="7" name="sensor 2"/>
          <p:cNvSpPr/>
          <p:nvPr/>
        </p:nvSpPr>
        <p:spPr>
          <a:xfrm>
            <a:off x="548640" y="2395728"/>
            <a:ext cx="2286000" cy="594360"/>
          </a:xfrm>
          <a:prstGeom prst="roundRect">
            <a:avLst>
              <a:gd name="adj" fmla="val 10769"/>
            </a:avLst>
          </a:prstGeom>
          <a:solidFill>
            <a:schemeClr val="accent1"/>
          </a:solidFill>
          <a:ln w="12700">
            <a:solidFill>
              <a:schemeClr val="accent1"/>
            </a:solidFill>
            <a:prstDash val="solid"/>
          </a:ln>
        </p:spPr>
      </p:sp>
      <p:sp>
        <p:nvSpPr>
          <p:cNvPr id="8" name="Text 6"/>
          <p:cNvSpPr txBox="1"/>
          <p:nvPr/>
        </p:nvSpPr>
        <p:spPr>
          <a:xfrm>
            <a:off x="594360" y="2395728"/>
            <a:ext cx="2194560" cy="594360"/>
          </a:xfrm>
          <a:prstGeom prst="rect">
            <a:avLst/>
          </a:prstGeom>
          <a:noFill/>
          <a:ln/>
        </p:spPr>
        <p:txBody>
          <a:bodyPr wrap="square" lIns="0" tIns="0" rIns="0" bIns="0" rtlCol="0" anchor="ctr"/>
          <a:lstStyle/>
          <a:p>
            <a:pPr marL="0" indent="0" algn="ctr">
              <a:buNone/>
            </a:pPr>
            <a:r>
              <a:rPr lang="en-US" sz="1300" b="1" dirty="0">
                <a:solidFill>
                  <a:schemeClr val="bg1"/>
                </a:solidFill>
              </a:rPr>
              <a:t>Ground vibration (ADXL355)</a:t>
            </a:r>
            <a:endParaRPr lang="en-US" sz="1300" dirty="0"/>
          </a:p>
        </p:txBody>
      </p:sp>
      <p:sp>
        <p:nvSpPr>
          <p:cNvPr id="9" name="arrow"/>
          <p:cNvSpPr/>
          <p:nvPr/>
        </p:nvSpPr>
        <p:spPr>
          <a:xfrm>
            <a:off x="2834640" y="2688336"/>
            <a:ext cx="502920" cy="420624"/>
          </a:xfrm>
          <a:prstGeom prst="line">
            <a:avLst/>
          </a:prstGeom>
          <a:noFill/>
          <a:ln w="22225">
            <a:solidFill>
              <a:schemeClr val="accent6"/>
            </a:solidFill>
            <a:prstDash val="solid"/>
            <a:tailEnd type="triangle"/>
          </a:ln>
        </p:spPr>
      </p:sp>
      <p:sp>
        <p:nvSpPr>
          <p:cNvPr id="10" name="sensor 3"/>
          <p:cNvSpPr/>
          <p:nvPr/>
        </p:nvSpPr>
        <p:spPr>
          <a:xfrm>
            <a:off x="548640" y="3145536"/>
            <a:ext cx="2286000" cy="594360"/>
          </a:xfrm>
          <a:prstGeom prst="roundRect">
            <a:avLst>
              <a:gd name="adj" fmla="val 10769"/>
            </a:avLst>
          </a:prstGeom>
          <a:solidFill>
            <a:schemeClr val="accent1"/>
          </a:solidFill>
          <a:ln w="12700">
            <a:solidFill>
              <a:schemeClr val="accent1"/>
            </a:solidFill>
            <a:prstDash val="solid"/>
          </a:ln>
        </p:spPr>
      </p:sp>
      <p:sp>
        <p:nvSpPr>
          <p:cNvPr id="11" name="Text 9"/>
          <p:cNvSpPr txBox="1"/>
          <p:nvPr/>
        </p:nvSpPr>
        <p:spPr>
          <a:xfrm>
            <a:off x="594360" y="3145536"/>
            <a:ext cx="2194560" cy="594360"/>
          </a:xfrm>
          <a:prstGeom prst="rect">
            <a:avLst/>
          </a:prstGeom>
          <a:noFill/>
          <a:ln/>
        </p:spPr>
        <p:txBody>
          <a:bodyPr wrap="square" lIns="0" tIns="0" rIns="0" bIns="0" rtlCol="0" anchor="ctr"/>
          <a:lstStyle/>
          <a:p>
            <a:pPr marL="0" indent="0" algn="ctr">
              <a:buNone/>
            </a:pPr>
            <a:r>
              <a:rPr lang="en-US" sz="1300" b="1" dirty="0">
                <a:solidFill>
                  <a:schemeClr val="bg1"/>
                </a:solidFill>
              </a:rPr>
              <a:t>Microphone (ICS-43434)</a:t>
            </a:r>
            <a:endParaRPr lang="en-US" sz="1300" dirty="0"/>
          </a:p>
        </p:txBody>
      </p:sp>
      <p:sp>
        <p:nvSpPr>
          <p:cNvPr id="12" name="arrow"/>
          <p:cNvSpPr/>
          <p:nvPr/>
        </p:nvSpPr>
        <p:spPr>
          <a:xfrm flipV="1">
            <a:off x="2834640" y="3108960"/>
            <a:ext cx="502920" cy="329184"/>
          </a:xfrm>
          <a:prstGeom prst="line">
            <a:avLst/>
          </a:prstGeom>
          <a:noFill/>
          <a:ln w="22225">
            <a:solidFill>
              <a:schemeClr val="accent6"/>
            </a:solidFill>
            <a:prstDash val="solid"/>
            <a:tailEnd type="triangle"/>
          </a:ln>
        </p:spPr>
      </p:sp>
      <p:sp>
        <p:nvSpPr>
          <p:cNvPr id="13" name="sensor 4"/>
          <p:cNvSpPr/>
          <p:nvPr/>
        </p:nvSpPr>
        <p:spPr>
          <a:xfrm>
            <a:off x="548640" y="3895344"/>
            <a:ext cx="2286000" cy="594360"/>
          </a:xfrm>
          <a:prstGeom prst="roundRect">
            <a:avLst>
              <a:gd name="adj" fmla="val 10769"/>
            </a:avLst>
          </a:prstGeom>
          <a:solidFill>
            <a:schemeClr val="accent1"/>
          </a:solidFill>
          <a:ln w="12700">
            <a:solidFill>
              <a:schemeClr val="accent1"/>
            </a:solidFill>
            <a:prstDash val="solid"/>
          </a:ln>
        </p:spPr>
      </p:sp>
      <p:sp>
        <p:nvSpPr>
          <p:cNvPr id="14" name="Text 12"/>
          <p:cNvSpPr txBox="1"/>
          <p:nvPr/>
        </p:nvSpPr>
        <p:spPr>
          <a:xfrm>
            <a:off x="594360" y="3895344"/>
            <a:ext cx="2194560" cy="594360"/>
          </a:xfrm>
          <a:prstGeom prst="rect">
            <a:avLst/>
          </a:prstGeom>
          <a:noFill/>
          <a:ln/>
        </p:spPr>
        <p:txBody>
          <a:bodyPr wrap="square" lIns="0" tIns="0" rIns="0" bIns="0" rtlCol="0" anchor="ctr"/>
          <a:lstStyle/>
          <a:p>
            <a:pPr marL="0" indent="0" algn="ctr">
              <a:buNone/>
            </a:pPr>
            <a:r>
              <a:rPr lang="en-US" sz="1300" b="1" dirty="0">
                <a:solidFill>
                  <a:schemeClr val="bg1"/>
                </a:solidFill>
              </a:rPr>
              <a:t>GPS (NEO-M8)</a:t>
            </a:r>
            <a:endParaRPr lang="en-US" sz="1300" dirty="0"/>
          </a:p>
        </p:txBody>
      </p:sp>
      <p:sp>
        <p:nvSpPr>
          <p:cNvPr id="15" name="arrow"/>
          <p:cNvSpPr/>
          <p:nvPr/>
        </p:nvSpPr>
        <p:spPr>
          <a:xfrm flipV="1">
            <a:off x="2834640" y="3108960"/>
            <a:ext cx="502920" cy="1078992"/>
          </a:xfrm>
          <a:prstGeom prst="line">
            <a:avLst/>
          </a:prstGeom>
          <a:noFill/>
          <a:ln w="22225">
            <a:solidFill>
              <a:schemeClr val="accent6"/>
            </a:solidFill>
            <a:prstDash val="solid"/>
            <a:tailEnd type="triangle"/>
          </a:ln>
        </p:spPr>
      </p:sp>
      <p:sp>
        <p:nvSpPr>
          <p:cNvPr id="16" name="Text 14"/>
          <p:cNvSpPr txBox="1"/>
          <p:nvPr/>
        </p:nvSpPr>
        <p:spPr>
          <a:xfrm>
            <a:off x="3337560" y="1325880"/>
            <a:ext cx="2011680" cy="274320"/>
          </a:xfrm>
          <a:prstGeom prst="rect">
            <a:avLst/>
          </a:prstGeom>
          <a:noFill/>
          <a:ln/>
        </p:spPr>
        <p:txBody>
          <a:bodyPr wrap="square" lIns="0" tIns="0" rIns="0" bIns="0" rtlCol="0" anchor="t"/>
          <a:lstStyle/>
          <a:p>
            <a:pPr marL="0" indent="0">
              <a:buNone/>
            </a:pPr>
            <a:r>
              <a:rPr lang="en-US" sz="1200" b="1" dirty="0">
                <a:solidFill>
                  <a:schemeClr val="accent6"/>
                </a:solidFill>
              </a:rPr>
              <a:t>DECIDE</a:t>
            </a:r>
            <a:endParaRPr lang="en-US" sz="1200" dirty="0"/>
          </a:p>
        </p:txBody>
      </p:sp>
      <p:sp>
        <p:nvSpPr>
          <p:cNvPr id="17" name="esp32"/>
          <p:cNvSpPr/>
          <p:nvPr/>
        </p:nvSpPr>
        <p:spPr>
          <a:xfrm>
            <a:off x="3337560" y="2606040"/>
            <a:ext cx="2103120" cy="1005840"/>
          </a:xfrm>
          <a:prstGeom prst="roundRect">
            <a:avLst>
              <a:gd name="adj" fmla="val 6364"/>
            </a:avLst>
          </a:prstGeom>
          <a:solidFill>
            <a:schemeClr val="accent3"/>
          </a:solidFill>
          <a:ln w="12700">
            <a:solidFill>
              <a:schemeClr val="accent3"/>
            </a:solidFill>
            <a:prstDash val="solid"/>
          </a:ln>
        </p:spPr>
      </p:sp>
      <p:sp>
        <p:nvSpPr>
          <p:cNvPr id="18" name="Text 16"/>
          <p:cNvSpPr txBox="1"/>
          <p:nvPr/>
        </p:nvSpPr>
        <p:spPr>
          <a:xfrm>
            <a:off x="3383280" y="2606040"/>
            <a:ext cx="2011680" cy="1005840"/>
          </a:xfrm>
          <a:prstGeom prst="rect">
            <a:avLst/>
          </a:prstGeom>
          <a:noFill/>
          <a:ln/>
        </p:spPr>
        <p:txBody>
          <a:bodyPr wrap="square" lIns="0" tIns="0" rIns="0" bIns="0" rtlCol="0" anchor="ctr"/>
          <a:lstStyle/>
          <a:p>
            <a:pPr marL="0" indent="0" algn="ctr">
              <a:buNone/>
            </a:pPr>
            <a:r>
              <a:rPr lang="en-US" sz="1600" b="1" dirty="0">
                <a:solidFill>
                  <a:schemeClr val="bg1"/>
                </a:solidFill>
              </a:rPr>
              <a:t>ESP32</a:t>
            </a:r>
            <a:endParaRPr lang="en-US" sz="1600" dirty="0"/>
          </a:p>
          <a:p>
            <a:pPr marL="0" indent="0" algn="ctr">
              <a:buNone/>
            </a:pPr>
            <a:r>
              <a:rPr lang="en-US" sz="1600" b="1" dirty="0">
                <a:solidFill>
                  <a:schemeClr val="bg1"/>
                </a:solidFill>
              </a:rPr>
              <a:t>fusion score</a:t>
            </a:r>
            <a:endParaRPr lang="en-US" sz="1600" dirty="0"/>
          </a:p>
        </p:txBody>
      </p:sp>
      <p:sp>
        <p:nvSpPr>
          <p:cNvPr id="19" name="sd card"/>
          <p:cNvSpPr/>
          <p:nvPr/>
        </p:nvSpPr>
        <p:spPr>
          <a:xfrm>
            <a:off x="3337560" y="4023360"/>
            <a:ext cx="2103120" cy="594360"/>
          </a:xfrm>
          <a:prstGeom prst="roundRect">
            <a:avLst>
              <a:gd name="adj" fmla="val 10769"/>
            </a:avLst>
          </a:prstGeom>
          <a:solidFill>
            <a:schemeClr val="accent6"/>
          </a:solidFill>
          <a:ln w="12700">
            <a:solidFill>
              <a:schemeClr val="accent6"/>
            </a:solidFill>
            <a:prstDash val="solid"/>
          </a:ln>
        </p:spPr>
      </p:sp>
      <p:sp>
        <p:nvSpPr>
          <p:cNvPr id="20" name="Text 18"/>
          <p:cNvSpPr txBox="1"/>
          <p:nvPr/>
        </p:nvSpPr>
        <p:spPr>
          <a:xfrm>
            <a:off x="3383280" y="4023360"/>
            <a:ext cx="2011680" cy="594360"/>
          </a:xfrm>
          <a:prstGeom prst="rect">
            <a:avLst/>
          </a:prstGeom>
          <a:noFill/>
          <a:ln/>
        </p:spPr>
        <p:txBody>
          <a:bodyPr wrap="square" lIns="0" tIns="0" rIns="0" bIns="0" rtlCol="0" anchor="ctr"/>
          <a:lstStyle/>
          <a:p>
            <a:pPr marL="0" indent="0" algn="ctr">
              <a:buNone/>
            </a:pPr>
            <a:r>
              <a:rPr lang="en-US" sz="1300" b="1" dirty="0">
                <a:solidFill>
                  <a:schemeClr val="bg1"/>
                </a:solidFill>
              </a:rPr>
              <a:t>SD card log</a:t>
            </a:r>
            <a:endParaRPr lang="en-US" sz="1300" dirty="0"/>
          </a:p>
        </p:txBody>
      </p:sp>
      <p:sp>
        <p:nvSpPr>
          <p:cNvPr id="21" name="arrow"/>
          <p:cNvSpPr/>
          <p:nvPr/>
        </p:nvSpPr>
        <p:spPr>
          <a:xfrm>
            <a:off x="4389120" y="3611880"/>
            <a:ext cx="0" cy="411480"/>
          </a:xfrm>
          <a:prstGeom prst="line">
            <a:avLst/>
          </a:prstGeom>
          <a:noFill/>
          <a:ln w="22225">
            <a:solidFill>
              <a:schemeClr val="accent6"/>
            </a:solidFill>
            <a:prstDash val="solid"/>
            <a:tailEnd type="triangle"/>
          </a:ln>
        </p:spPr>
      </p:sp>
      <p:sp>
        <p:nvSpPr>
          <p:cNvPr id="22" name="Text 20"/>
          <p:cNvSpPr txBox="1"/>
          <p:nvPr/>
        </p:nvSpPr>
        <p:spPr>
          <a:xfrm>
            <a:off x="5989320" y="1325880"/>
            <a:ext cx="2011680" cy="274320"/>
          </a:xfrm>
          <a:prstGeom prst="rect">
            <a:avLst/>
          </a:prstGeom>
          <a:noFill/>
          <a:ln/>
        </p:spPr>
        <p:txBody>
          <a:bodyPr wrap="square" lIns="0" tIns="0" rIns="0" bIns="0" rtlCol="0" anchor="t"/>
          <a:lstStyle/>
          <a:p>
            <a:pPr marL="0" indent="0">
              <a:buNone/>
            </a:pPr>
            <a:r>
              <a:rPr lang="en-US" sz="1200" b="1" dirty="0">
                <a:solidFill>
                  <a:schemeClr val="accent6"/>
                </a:solidFill>
              </a:rPr>
              <a:t>SEND</a:t>
            </a:r>
            <a:endParaRPr lang="en-US" sz="1200" dirty="0"/>
          </a:p>
        </p:txBody>
      </p:sp>
      <p:sp>
        <p:nvSpPr>
          <p:cNvPr id="23" name="lora"/>
          <p:cNvSpPr/>
          <p:nvPr/>
        </p:nvSpPr>
        <p:spPr>
          <a:xfrm>
            <a:off x="5989320" y="2148840"/>
            <a:ext cx="2103120" cy="731520"/>
          </a:xfrm>
          <a:prstGeom prst="roundRect">
            <a:avLst>
              <a:gd name="adj" fmla="val 8750"/>
            </a:avLst>
          </a:prstGeom>
          <a:solidFill>
            <a:schemeClr val="accent2"/>
          </a:solidFill>
          <a:ln w="12700">
            <a:solidFill>
              <a:schemeClr val="accent2"/>
            </a:solidFill>
            <a:prstDash val="solid"/>
          </a:ln>
        </p:spPr>
      </p:sp>
      <p:sp>
        <p:nvSpPr>
          <p:cNvPr id="24" name="Text 22"/>
          <p:cNvSpPr txBox="1"/>
          <p:nvPr/>
        </p:nvSpPr>
        <p:spPr>
          <a:xfrm>
            <a:off x="6035040" y="2148840"/>
            <a:ext cx="2011680" cy="731520"/>
          </a:xfrm>
          <a:prstGeom prst="rect">
            <a:avLst/>
          </a:prstGeom>
          <a:noFill/>
          <a:ln/>
        </p:spPr>
        <p:txBody>
          <a:bodyPr wrap="square" lIns="0" tIns="0" rIns="0" bIns="0" rtlCol="0" anchor="ctr"/>
          <a:lstStyle/>
          <a:p>
            <a:pPr marL="0" indent="0" algn="ctr">
              <a:buNone/>
            </a:pPr>
            <a:r>
              <a:rPr lang="en-US" sz="1300" b="1" dirty="0">
                <a:solidFill>
                  <a:schemeClr val="tx1"/>
                </a:solidFill>
              </a:rPr>
              <a:t>LoRa SX1262</a:t>
            </a:r>
            <a:endParaRPr lang="en-US" sz="1300" dirty="0"/>
          </a:p>
          <a:p>
            <a:pPr marL="0" indent="0" algn="ctr">
              <a:buNone/>
            </a:pPr>
            <a:r>
              <a:rPr lang="en-US" sz="1300" b="1" dirty="0">
                <a:solidFill>
                  <a:schemeClr val="tx1"/>
                </a:solidFill>
              </a:rPr>
              <a:t>long-range link</a:t>
            </a:r>
            <a:endParaRPr lang="en-US" sz="1300" dirty="0"/>
          </a:p>
        </p:txBody>
      </p:sp>
      <p:sp>
        <p:nvSpPr>
          <p:cNvPr id="25" name="gsm"/>
          <p:cNvSpPr/>
          <p:nvPr/>
        </p:nvSpPr>
        <p:spPr>
          <a:xfrm>
            <a:off x="5989320" y="3337560"/>
            <a:ext cx="2103120" cy="731520"/>
          </a:xfrm>
          <a:prstGeom prst="roundRect">
            <a:avLst>
              <a:gd name="adj" fmla="val 8750"/>
            </a:avLst>
          </a:prstGeom>
          <a:solidFill>
            <a:schemeClr val="accent2"/>
          </a:solidFill>
          <a:ln w="12700">
            <a:solidFill>
              <a:schemeClr val="accent2"/>
            </a:solidFill>
            <a:prstDash val="solid"/>
          </a:ln>
        </p:spPr>
      </p:sp>
      <p:sp>
        <p:nvSpPr>
          <p:cNvPr id="26" name="Text 24"/>
          <p:cNvSpPr txBox="1"/>
          <p:nvPr/>
        </p:nvSpPr>
        <p:spPr>
          <a:xfrm>
            <a:off x="6035040" y="3337560"/>
            <a:ext cx="2011680" cy="731520"/>
          </a:xfrm>
          <a:prstGeom prst="rect">
            <a:avLst/>
          </a:prstGeom>
          <a:noFill/>
          <a:ln/>
        </p:spPr>
        <p:txBody>
          <a:bodyPr wrap="square" lIns="0" tIns="0" rIns="0" bIns="0" rtlCol="0" anchor="ctr"/>
          <a:lstStyle/>
          <a:p>
            <a:pPr marL="0" indent="0" algn="ctr">
              <a:buNone/>
            </a:pPr>
            <a:r>
              <a:rPr lang="en-US" sz="1300" b="1" dirty="0">
                <a:solidFill>
                  <a:schemeClr val="tx1"/>
                </a:solidFill>
              </a:rPr>
              <a:t>SIM800L GSM</a:t>
            </a:r>
            <a:endParaRPr lang="en-US" sz="1300" dirty="0"/>
          </a:p>
          <a:p>
            <a:pPr marL="0" indent="0" algn="ctr">
              <a:buNone/>
            </a:pPr>
            <a:r>
              <a:rPr lang="en-US" sz="1300" b="1" dirty="0">
                <a:solidFill>
                  <a:schemeClr val="tx1"/>
                </a:solidFill>
              </a:rPr>
              <a:t>SMS fallback</a:t>
            </a:r>
            <a:endParaRPr lang="en-US" sz="1300" dirty="0"/>
          </a:p>
        </p:txBody>
      </p:sp>
      <p:sp>
        <p:nvSpPr>
          <p:cNvPr id="27" name="arrow"/>
          <p:cNvSpPr/>
          <p:nvPr/>
        </p:nvSpPr>
        <p:spPr>
          <a:xfrm flipV="1">
            <a:off x="5440680" y="2514600"/>
            <a:ext cx="548640" cy="457200"/>
          </a:xfrm>
          <a:prstGeom prst="line">
            <a:avLst/>
          </a:prstGeom>
          <a:noFill/>
          <a:ln w="22225">
            <a:solidFill>
              <a:schemeClr val="accent6"/>
            </a:solidFill>
            <a:prstDash val="solid"/>
            <a:tailEnd type="triangle"/>
          </a:ln>
        </p:spPr>
      </p:sp>
      <p:sp>
        <p:nvSpPr>
          <p:cNvPr id="28" name="arrow"/>
          <p:cNvSpPr/>
          <p:nvPr/>
        </p:nvSpPr>
        <p:spPr>
          <a:xfrm>
            <a:off x="5440680" y="3246120"/>
            <a:ext cx="548640" cy="457200"/>
          </a:xfrm>
          <a:prstGeom prst="line">
            <a:avLst/>
          </a:prstGeom>
          <a:noFill/>
          <a:ln w="22225">
            <a:solidFill>
              <a:schemeClr val="accent6"/>
            </a:solidFill>
            <a:prstDash val="solid"/>
            <a:tailEnd type="triangle"/>
          </a:ln>
        </p:spPr>
      </p:sp>
      <p:sp>
        <p:nvSpPr>
          <p:cNvPr id="29" name="Text 27"/>
          <p:cNvSpPr txBox="1"/>
          <p:nvPr/>
        </p:nvSpPr>
        <p:spPr>
          <a:xfrm>
            <a:off x="8641080" y="1325880"/>
            <a:ext cx="2926080" cy="274320"/>
          </a:xfrm>
          <a:prstGeom prst="rect">
            <a:avLst/>
          </a:prstGeom>
          <a:noFill/>
          <a:ln/>
        </p:spPr>
        <p:txBody>
          <a:bodyPr wrap="square" lIns="0" tIns="0" rIns="0" bIns="0" rtlCol="0" anchor="t"/>
          <a:lstStyle/>
          <a:p>
            <a:pPr marL="0" indent="0">
              <a:buNone/>
            </a:pPr>
            <a:r>
              <a:rPr lang="en-US" sz="1200" b="1" dirty="0">
                <a:solidFill>
                  <a:schemeClr val="accent6"/>
                </a:solidFill>
              </a:rPr>
              <a:t>ALERT</a:t>
            </a:r>
            <a:endParaRPr lang="en-US" sz="1200" dirty="0"/>
          </a:p>
        </p:txBody>
      </p:sp>
      <p:sp>
        <p:nvSpPr>
          <p:cNvPr id="30" name="gateway"/>
          <p:cNvSpPr/>
          <p:nvPr/>
        </p:nvSpPr>
        <p:spPr>
          <a:xfrm>
            <a:off x="8641080" y="2148840"/>
            <a:ext cx="2999232" cy="731520"/>
          </a:xfrm>
          <a:prstGeom prst="roundRect">
            <a:avLst>
              <a:gd name="adj" fmla="val 8750"/>
            </a:avLst>
          </a:prstGeom>
          <a:solidFill>
            <a:schemeClr val="accent1"/>
          </a:solidFill>
          <a:ln w="12700">
            <a:solidFill>
              <a:schemeClr val="accent1"/>
            </a:solidFill>
            <a:prstDash val="solid"/>
          </a:ln>
        </p:spPr>
      </p:sp>
      <p:sp>
        <p:nvSpPr>
          <p:cNvPr id="31" name="Text 29"/>
          <p:cNvSpPr txBox="1"/>
          <p:nvPr/>
        </p:nvSpPr>
        <p:spPr>
          <a:xfrm>
            <a:off x="8686800" y="2148840"/>
            <a:ext cx="2907792" cy="731520"/>
          </a:xfrm>
          <a:prstGeom prst="rect">
            <a:avLst/>
          </a:prstGeom>
          <a:noFill/>
          <a:ln/>
        </p:spPr>
        <p:txBody>
          <a:bodyPr wrap="square" lIns="0" tIns="0" rIns="0" bIns="0" rtlCol="0" anchor="ctr"/>
          <a:lstStyle/>
          <a:p>
            <a:pPr marL="0" indent="0" algn="ctr">
              <a:buNone/>
            </a:pPr>
            <a:r>
              <a:rPr lang="en-US" sz="1300" b="1" dirty="0">
                <a:solidFill>
                  <a:schemeClr val="bg1"/>
                </a:solidFill>
              </a:rPr>
              <a:t>Gateway decoder (Python)</a:t>
            </a:r>
            <a:endParaRPr lang="en-US" sz="1300" dirty="0"/>
          </a:p>
        </p:txBody>
      </p:sp>
      <p:sp>
        <p:nvSpPr>
          <p:cNvPr id="32" name="app and portal"/>
          <p:cNvSpPr/>
          <p:nvPr/>
        </p:nvSpPr>
        <p:spPr>
          <a:xfrm>
            <a:off x="8641080" y="3108960"/>
            <a:ext cx="2999232" cy="731520"/>
          </a:xfrm>
          <a:prstGeom prst="roundRect">
            <a:avLst>
              <a:gd name="adj" fmla="val 8750"/>
            </a:avLst>
          </a:prstGeom>
          <a:solidFill>
            <a:schemeClr val="accent1"/>
          </a:solidFill>
          <a:ln w="12700">
            <a:solidFill>
              <a:schemeClr val="accent1"/>
            </a:solidFill>
            <a:prstDash val="solid"/>
          </a:ln>
        </p:spPr>
      </p:sp>
      <p:sp>
        <p:nvSpPr>
          <p:cNvPr id="33" name="Text 31"/>
          <p:cNvSpPr txBox="1"/>
          <p:nvPr/>
        </p:nvSpPr>
        <p:spPr>
          <a:xfrm>
            <a:off x="8686800" y="3108960"/>
            <a:ext cx="2907792" cy="731520"/>
          </a:xfrm>
          <a:prstGeom prst="rect">
            <a:avLst/>
          </a:prstGeom>
          <a:noFill/>
          <a:ln/>
        </p:spPr>
        <p:txBody>
          <a:bodyPr wrap="square" lIns="0" tIns="0" rIns="0" bIns="0" rtlCol="0" anchor="ctr"/>
          <a:lstStyle/>
          <a:p>
            <a:pPr marL="0" indent="0" algn="ctr">
              <a:buNone/>
            </a:pPr>
            <a:r>
              <a:rPr lang="en-US" sz="1300" b="1" dirty="0">
                <a:solidFill>
                  <a:schemeClr val="bg1"/>
                </a:solidFill>
              </a:rPr>
              <a:t>Public app  +  Forest portal</a:t>
            </a:r>
            <a:endParaRPr lang="en-US" sz="1300" dirty="0"/>
          </a:p>
        </p:txBody>
      </p:sp>
      <p:sp>
        <p:nvSpPr>
          <p:cNvPr id="34" name="phones"/>
          <p:cNvSpPr/>
          <p:nvPr/>
        </p:nvSpPr>
        <p:spPr>
          <a:xfrm>
            <a:off x="8641080" y="4114800"/>
            <a:ext cx="2999232" cy="731520"/>
          </a:xfrm>
          <a:prstGeom prst="roundRect">
            <a:avLst>
              <a:gd name="adj" fmla="val 8750"/>
            </a:avLst>
          </a:prstGeom>
          <a:solidFill>
            <a:schemeClr val="accent1"/>
          </a:solidFill>
          <a:ln w="12700">
            <a:solidFill>
              <a:schemeClr val="accent1"/>
            </a:solidFill>
            <a:prstDash val="solid"/>
          </a:ln>
        </p:spPr>
      </p:sp>
      <p:sp>
        <p:nvSpPr>
          <p:cNvPr id="35" name="Text 33"/>
          <p:cNvSpPr txBox="1"/>
          <p:nvPr/>
        </p:nvSpPr>
        <p:spPr>
          <a:xfrm>
            <a:off x="8686800" y="4114800"/>
            <a:ext cx="2907792" cy="731520"/>
          </a:xfrm>
          <a:prstGeom prst="rect">
            <a:avLst/>
          </a:prstGeom>
          <a:noFill/>
          <a:ln/>
        </p:spPr>
        <p:txBody>
          <a:bodyPr wrap="square" lIns="0" tIns="0" rIns="0" bIns="0" rtlCol="0" anchor="ctr"/>
          <a:lstStyle/>
          <a:p>
            <a:pPr marL="0" indent="0" algn="ctr">
              <a:buNone/>
            </a:pPr>
            <a:r>
              <a:rPr lang="en-US" sz="1300" b="1" dirty="0">
                <a:solidFill>
                  <a:schemeClr val="bg1"/>
                </a:solidFill>
              </a:rPr>
              <a:t>Nearby phones (SMS)</a:t>
            </a:r>
            <a:endParaRPr lang="en-US" sz="1300" dirty="0"/>
          </a:p>
        </p:txBody>
      </p:sp>
      <p:sp>
        <p:nvSpPr>
          <p:cNvPr id="36" name="arrow"/>
          <p:cNvSpPr/>
          <p:nvPr/>
        </p:nvSpPr>
        <p:spPr>
          <a:xfrm>
            <a:off x="8092440" y="2514600"/>
            <a:ext cx="548640" cy="0"/>
          </a:xfrm>
          <a:prstGeom prst="line">
            <a:avLst/>
          </a:prstGeom>
          <a:noFill/>
          <a:ln w="22225">
            <a:solidFill>
              <a:schemeClr val="accent6"/>
            </a:solidFill>
            <a:prstDash val="solid"/>
            <a:tailEnd type="triangle"/>
          </a:ln>
        </p:spPr>
      </p:sp>
      <p:sp>
        <p:nvSpPr>
          <p:cNvPr id="37" name="arrow"/>
          <p:cNvSpPr/>
          <p:nvPr/>
        </p:nvSpPr>
        <p:spPr>
          <a:xfrm>
            <a:off x="10149840" y="2880360"/>
            <a:ext cx="0" cy="228600"/>
          </a:xfrm>
          <a:prstGeom prst="line">
            <a:avLst/>
          </a:prstGeom>
          <a:noFill/>
          <a:ln w="22225">
            <a:solidFill>
              <a:schemeClr val="accent6"/>
            </a:solidFill>
            <a:prstDash val="solid"/>
            <a:tailEnd type="triangle"/>
          </a:ln>
        </p:spPr>
      </p:sp>
      <p:sp>
        <p:nvSpPr>
          <p:cNvPr id="38" name="arrow"/>
          <p:cNvSpPr/>
          <p:nvPr/>
        </p:nvSpPr>
        <p:spPr>
          <a:xfrm>
            <a:off x="8092440" y="3703320"/>
            <a:ext cx="548640" cy="777240"/>
          </a:xfrm>
          <a:prstGeom prst="line">
            <a:avLst/>
          </a:prstGeom>
          <a:noFill/>
          <a:ln w="22225">
            <a:solidFill>
              <a:schemeClr val="accent6"/>
            </a:solidFill>
            <a:prstDash val="solid"/>
            <a:tailEnd type="triangle"/>
          </a:ln>
        </p:spPr>
      </p:sp>
      <p:sp>
        <p:nvSpPr>
          <p:cNvPr id="39" name="power strip"/>
          <p:cNvSpPr/>
          <p:nvPr/>
        </p:nvSpPr>
        <p:spPr>
          <a:xfrm>
            <a:off x="548640" y="5074920"/>
            <a:ext cx="11091672" cy="594360"/>
          </a:xfrm>
          <a:prstGeom prst="roundRect">
            <a:avLst>
              <a:gd name="adj" fmla="val 12308"/>
            </a:avLst>
          </a:prstGeom>
          <a:solidFill>
            <a:schemeClr val="bg2"/>
          </a:solidFill>
          <a:ln w="9525">
            <a:solidFill>
              <a:schemeClr val="bg2"/>
            </a:solidFill>
            <a:prstDash val="solid"/>
          </a:ln>
        </p:spPr>
      </p:sp>
      <p:pic>
        <p:nvPicPr>
          <p:cNvPr id="40" name="Image 0" descr="solar panel"/>
          <p:cNvPicPr>
            <a:picLocks noChangeAspect="1"/>
          </p:cNvPicPr>
          <p:nvPr/>
        </p:nvPicPr>
        <p:blipFill>
          <a:blip r:embed="rId3"/>
          <a:stretch>
            <a:fillRect/>
          </a:stretch>
        </p:blipFill>
        <p:spPr>
          <a:xfrm>
            <a:off x="777240" y="5212080"/>
            <a:ext cx="320040" cy="320040"/>
          </a:xfrm>
          <a:prstGeom prst="rect">
            <a:avLst/>
          </a:prstGeom>
        </p:spPr>
      </p:pic>
      <p:sp>
        <p:nvSpPr>
          <p:cNvPr id="41" name="Text 38"/>
          <p:cNvSpPr txBox="1"/>
          <p:nvPr/>
        </p:nvSpPr>
        <p:spPr>
          <a:xfrm>
            <a:off x="1280160" y="5074920"/>
            <a:ext cx="10241280" cy="594360"/>
          </a:xfrm>
          <a:prstGeom prst="rect">
            <a:avLst/>
          </a:prstGeom>
          <a:noFill/>
          <a:ln/>
        </p:spPr>
        <p:txBody>
          <a:bodyPr wrap="square" lIns="0" tIns="0" rIns="0" bIns="0" rtlCol="0" anchor="ctr"/>
          <a:lstStyle/>
          <a:p>
            <a:pPr marL="0" indent="0">
              <a:buNone/>
            </a:pPr>
            <a:r>
              <a:rPr lang="en-US" sz="1500" b="1" dirty="0">
                <a:solidFill>
                  <a:schemeClr val="accent4"/>
                </a:solidFill>
              </a:rPr>
              <a:t>Power:  </a:t>
            </a:r>
            <a:r>
              <a:rPr lang="en-US" sz="1500" dirty="0">
                <a:solidFill>
                  <a:schemeClr val="tx1"/>
                </a:solidFill>
              </a:rPr>
              <a:t>a 40-50 W solar panel charges a 12 V, 20 Ah LiFePO4 battery through an MPPT controller, which runs the whole node</a:t>
            </a:r>
            <a:endParaRPr lang="en-US" sz="1500" dirty="0"/>
          </a:p>
        </p:txBody>
      </p:sp>
      <p:sp>
        <p:nvSpPr>
          <p:cNvPr id="42" name="Text 39"/>
          <p:cNvSpPr txBox="1"/>
          <p:nvPr/>
        </p:nvSpPr>
        <p:spPr>
          <a:xfrm>
            <a:off x="548640" y="5806440"/>
            <a:ext cx="11091672" cy="457200"/>
          </a:xfrm>
          <a:prstGeom prst="rect">
            <a:avLst/>
          </a:prstGeom>
          <a:noFill/>
          <a:ln/>
        </p:spPr>
        <p:txBody>
          <a:bodyPr wrap="square" lIns="0" tIns="0" rIns="0" bIns="0" rtlCol="0" anchor="t"/>
          <a:lstStyle/>
          <a:p>
            <a:pPr marL="0" indent="0">
              <a:buNone/>
            </a:pPr>
            <a:r>
              <a:rPr lang="en-US" sz="1500" i="1" dirty="0">
                <a:solidFill>
                  <a:schemeClr val="tx2"/>
                </a:solidFill>
              </a:rPr>
              <a:t>Several kinds of evidence must agree before an alert is raised, so one noisy sensor cannot set off a warning by itself.</a:t>
            </a:r>
            <a:endParaRPr lang="en-US" sz="1500" dirty="0"/>
          </a:p>
        </p:txBody>
      </p:sp>
      <p:sp>
        <p:nvSpPr>
          <p:cNvPr id="43"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Who benefits, and why it matters</a:t>
            </a:r>
            <a:endParaRPr lang="en-US" sz="3400" dirty="0"/>
          </a:p>
        </p:txBody>
      </p:sp>
      <p:sp>
        <p:nvSpPr>
          <p:cNvPr id="3" name="beneficiary 1"/>
          <p:cNvSpPr/>
          <p:nvPr/>
        </p:nvSpPr>
        <p:spPr>
          <a:xfrm>
            <a:off x="548640" y="1417320"/>
            <a:ext cx="2651760" cy="2468880"/>
          </a:xfrm>
          <a:prstGeom prst="roundRect">
            <a:avLst>
              <a:gd name="adj" fmla="val 2963"/>
            </a:avLst>
          </a:prstGeom>
          <a:solidFill>
            <a:schemeClr val="bg2"/>
          </a:solidFill>
          <a:ln w="9525">
            <a:solidFill>
              <a:schemeClr val="bg2"/>
            </a:solidFill>
            <a:prstDash val="solid"/>
          </a:ln>
        </p:spPr>
      </p:sp>
      <p:sp>
        <p:nvSpPr>
          <p:cNvPr id="4" name="icon disc"/>
          <p:cNvSpPr/>
          <p:nvPr/>
        </p:nvSpPr>
        <p:spPr>
          <a:xfrm>
            <a:off x="731520" y="1645920"/>
            <a:ext cx="731520" cy="731520"/>
          </a:xfrm>
          <a:prstGeom prst="ellipse">
            <a:avLst/>
          </a:prstGeom>
          <a:solidFill>
            <a:schemeClr val="bg1"/>
          </a:solidFill>
          <a:ln w="12700">
            <a:solidFill>
              <a:schemeClr val="bg1"/>
            </a:solidFill>
            <a:prstDash val="solid"/>
          </a:ln>
        </p:spPr>
      </p:sp>
      <p:pic>
        <p:nvPicPr>
          <p:cNvPr id="5" name="Image 0" descr="Villagers"/>
          <p:cNvPicPr>
            <a:picLocks noChangeAspect="1"/>
          </p:cNvPicPr>
          <p:nvPr/>
        </p:nvPicPr>
        <p:blipFill>
          <a:blip r:embed="rId3"/>
          <a:stretch>
            <a:fillRect/>
          </a:stretch>
        </p:blipFill>
        <p:spPr>
          <a:xfrm>
            <a:off x="914400" y="1828800"/>
            <a:ext cx="365760" cy="365760"/>
          </a:xfrm>
          <a:prstGeom prst="rect">
            <a:avLst/>
          </a:prstGeom>
        </p:spPr>
      </p:pic>
      <p:sp>
        <p:nvSpPr>
          <p:cNvPr id="6" name="Text 3"/>
          <p:cNvSpPr txBox="1"/>
          <p:nvPr/>
        </p:nvSpPr>
        <p:spPr>
          <a:xfrm>
            <a:off x="731520" y="2560320"/>
            <a:ext cx="2286000" cy="36576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Villagers</a:t>
            </a:r>
            <a:endParaRPr lang="en-US" sz="2000" dirty="0"/>
          </a:p>
        </p:txBody>
      </p:sp>
      <p:sp>
        <p:nvSpPr>
          <p:cNvPr id="7" name="Text 4"/>
          <p:cNvSpPr txBox="1"/>
          <p:nvPr/>
        </p:nvSpPr>
        <p:spPr>
          <a:xfrm>
            <a:off x="731520" y="3017520"/>
            <a:ext cx="2286000" cy="1005840"/>
          </a:xfrm>
          <a:prstGeom prst="rect">
            <a:avLst/>
          </a:prstGeom>
          <a:noFill/>
          <a:ln/>
        </p:spPr>
        <p:txBody>
          <a:bodyPr wrap="square" lIns="0" tIns="0" rIns="0" bIns="0" rtlCol="0" anchor="t"/>
          <a:lstStyle/>
          <a:p>
            <a:pPr marL="0" indent="0">
              <a:buNone/>
            </a:pPr>
            <a:r>
              <a:rPr lang="en-US" sz="1400" dirty="0">
                <a:solidFill>
                  <a:schemeClr val="tx1"/>
                </a:solidFill>
              </a:rPr>
              <a:t>Earlier, clearer warnings that still reach them without internet</a:t>
            </a:r>
            <a:endParaRPr lang="en-US" sz="1400" dirty="0"/>
          </a:p>
        </p:txBody>
      </p:sp>
      <p:sp>
        <p:nvSpPr>
          <p:cNvPr id="8" name="beneficiary 2"/>
          <p:cNvSpPr/>
          <p:nvPr/>
        </p:nvSpPr>
        <p:spPr>
          <a:xfrm>
            <a:off x="3364992" y="1417320"/>
            <a:ext cx="2651760" cy="2468880"/>
          </a:xfrm>
          <a:prstGeom prst="roundRect">
            <a:avLst>
              <a:gd name="adj" fmla="val 2963"/>
            </a:avLst>
          </a:prstGeom>
          <a:solidFill>
            <a:schemeClr val="bg2"/>
          </a:solidFill>
          <a:ln w="9525">
            <a:solidFill>
              <a:schemeClr val="bg2"/>
            </a:solidFill>
            <a:prstDash val="solid"/>
          </a:ln>
        </p:spPr>
      </p:sp>
      <p:sp>
        <p:nvSpPr>
          <p:cNvPr id="9" name="icon disc"/>
          <p:cNvSpPr/>
          <p:nvPr/>
        </p:nvSpPr>
        <p:spPr>
          <a:xfrm>
            <a:off x="3547872" y="1645920"/>
            <a:ext cx="731520" cy="731520"/>
          </a:xfrm>
          <a:prstGeom prst="ellipse">
            <a:avLst/>
          </a:prstGeom>
          <a:solidFill>
            <a:schemeClr val="bg1"/>
          </a:solidFill>
          <a:ln w="12700">
            <a:solidFill>
              <a:schemeClr val="bg1"/>
            </a:solidFill>
            <a:prstDash val="solid"/>
          </a:ln>
        </p:spPr>
      </p:sp>
      <p:pic>
        <p:nvPicPr>
          <p:cNvPr id="10" name="Image 1" descr="Wildlife"/>
          <p:cNvPicPr>
            <a:picLocks noChangeAspect="1"/>
          </p:cNvPicPr>
          <p:nvPr/>
        </p:nvPicPr>
        <p:blipFill>
          <a:blip r:embed="rId4"/>
          <a:stretch>
            <a:fillRect/>
          </a:stretch>
        </p:blipFill>
        <p:spPr>
          <a:xfrm>
            <a:off x="3730752" y="1828800"/>
            <a:ext cx="365760" cy="365760"/>
          </a:xfrm>
          <a:prstGeom prst="rect">
            <a:avLst/>
          </a:prstGeom>
        </p:spPr>
      </p:pic>
      <p:sp>
        <p:nvSpPr>
          <p:cNvPr id="11" name="Text 7"/>
          <p:cNvSpPr txBox="1"/>
          <p:nvPr/>
        </p:nvSpPr>
        <p:spPr>
          <a:xfrm>
            <a:off x="3547872" y="2560320"/>
            <a:ext cx="2286000" cy="36576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Wildlife</a:t>
            </a:r>
            <a:endParaRPr lang="en-US" sz="2000" dirty="0"/>
          </a:p>
        </p:txBody>
      </p:sp>
      <p:sp>
        <p:nvSpPr>
          <p:cNvPr id="12" name="Text 8"/>
          <p:cNvSpPr txBox="1"/>
          <p:nvPr/>
        </p:nvSpPr>
        <p:spPr>
          <a:xfrm>
            <a:off x="3547872" y="3017520"/>
            <a:ext cx="2286000" cy="1005840"/>
          </a:xfrm>
          <a:prstGeom prst="rect">
            <a:avLst/>
          </a:prstGeom>
          <a:noFill/>
          <a:ln/>
        </p:spPr>
        <p:txBody>
          <a:bodyPr wrap="square" lIns="0" tIns="0" rIns="0" bIns="0" rtlCol="0" anchor="t"/>
          <a:lstStyle/>
          <a:p>
            <a:pPr marL="0" indent="0">
              <a:buNone/>
            </a:pPr>
            <a:r>
              <a:rPr lang="en-US" sz="1400" dirty="0">
                <a:solidFill>
                  <a:schemeClr val="tx1"/>
                </a:solidFill>
              </a:rPr>
              <a:t>Less chance of panic, chase or retaliation after a sighting</a:t>
            </a:r>
            <a:endParaRPr lang="en-US" sz="1400" dirty="0"/>
          </a:p>
        </p:txBody>
      </p:sp>
      <p:sp>
        <p:nvSpPr>
          <p:cNvPr id="13" name="beneficiary 3"/>
          <p:cNvSpPr/>
          <p:nvPr/>
        </p:nvSpPr>
        <p:spPr>
          <a:xfrm>
            <a:off x="6181344" y="1417320"/>
            <a:ext cx="2651760" cy="2468880"/>
          </a:xfrm>
          <a:prstGeom prst="roundRect">
            <a:avLst>
              <a:gd name="adj" fmla="val 2963"/>
            </a:avLst>
          </a:prstGeom>
          <a:solidFill>
            <a:schemeClr val="bg2"/>
          </a:solidFill>
          <a:ln w="9525">
            <a:solidFill>
              <a:schemeClr val="bg2"/>
            </a:solidFill>
            <a:prstDash val="solid"/>
          </a:ln>
        </p:spPr>
      </p:sp>
      <p:sp>
        <p:nvSpPr>
          <p:cNvPr id="14" name="icon disc"/>
          <p:cNvSpPr/>
          <p:nvPr/>
        </p:nvSpPr>
        <p:spPr>
          <a:xfrm>
            <a:off x="6364224" y="1645920"/>
            <a:ext cx="731520" cy="731520"/>
          </a:xfrm>
          <a:prstGeom prst="ellipse">
            <a:avLst/>
          </a:prstGeom>
          <a:solidFill>
            <a:schemeClr val="bg1"/>
          </a:solidFill>
          <a:ln w="12700">
            <a:solidFill>
              <a:schemeClr val="bg1"/>
            </a:solidFill>
            <a:prstDash val="solid"/>
          </a:ln>
        </p:spPr>
      </p:sp>
      <p:pic>
        <p:nvPicPr>
          <p:cNvPr id="15" name="Image 2" descr="Forest staff"/>
          <p:cNvPicPr>
            <a:picLocks noChangeAspect="1"/>
          </p:cNvPicPr>
          <p:nvPr/>
        </p:nvPicPr>
        <p:blipFill>
          <a:blip r:embed="rId5"/>
          <a:stretch>
            <a:fillRect/>
          </a:stretch>
        </p:blipFill>
        <p:spPr>
          <a:xfrm>
            <a:off x="6547104" y="1828800"/>
            <a:ext cx="365760" cy="365760"/>
          </a:xfrm>
          <a:prstGeom prst="rect">
            <a:avLst/>
          </a:prstGeom>
        </p:spPr>
      </p:pic>
      <p:sp>
        <p:nvSpPr>
          <p:cNvPr id="16" name="Text 11"/>
          <p:cNvSpPr txBox="1"/>
          <p:nvPr/>
        </p:nvSpPr>
        <p:spPr>
          <a:xfrm>
            <a:off x="6364224" y="2560320"/>
            <a:ext cx="2286000" cy="36576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Forest staff</a:t>
            </a:r>
            <a:endParaRPr lang="en-US" sz="2000" dirty="0"/>
          </a:p>
        </p:txBody>
      </p:sp>
      <p:sp>
        <p:nvSpPr>
          <p:cNvPr id="17" name="Text 12"/>
          <p:cNvSpPr txBox="1"/>
          <p:nvPr/>
        </p:nvSpPr>
        <p:spPr>
          <a:xfrm>
            <a:off x="6364224" y="3017520"/>
            <a:ext cx="2286000" cy="1005840"/>
          </a:xfrm>
          <a:prstGeom prst="rect">
            <a:avLst/>
          </a:prstGeom>
          <a:noFill/>
          <a:ln/>
        </p:spPr>
        <p:txBody>
          <a:bodyPr wrap="square" lIns="0" tIns="0" rIns="0" bIns="0" rtlCol="0" anchor="t"/>
          <a:lstStyle/>
          <a:p>
            <a:pPr marL="0" indent="0">
              <a:buNone/>
            </a:pPr>
            <a:r>
              <a:rPr lang="en-US" sz="1400" dirty="0">
                <a:solidFill>
                  <a:schemeClr val="tx1"/>
                </a:solidFill>
              </a:rPr>
              <a:t>Located, verified reports gathered in one place</a:t>
            </a:r>
            <a:endParaRPr lang="en-US" sz="1400" dirty="0"/>
          </a:p>
        </p:txBody>
      </p:sp>
      <p:sp>
        <p:nvSpPr>
          <p:cNvPr id="18" name="beneficiary 4"/>
          <p:cNvSpPr/>
          <p:nvPr/>
        </p:nvSpPr>
        <p:spPr>
          <a:xfrm>
            <a:off x="8997696" y="1417320"/>
            <a:ext cx="2651760" cy="2468880"/>
          </a:xfrm>
          <a:prstGeom prst="roundRect">
            <a:avLst>
              <a:gd name="adj" fmla="val 2963"/>
            </a:avLst>
          </a:prstGeom>
          <a:solidFill>
            <a:schemeClr val="bg2"/>
          </a:solidFill>
          <a:ln w="9525">
            <a:solidFill>
              <a:schemeClr val="bg2"/>
            </a:solidFill>
            <a:prstDash val="solid"/>
          </a:ln>
        </p:spPr>
      </p:sp>
      <p:sp>
        <p:nvSpPr>
          <p:cNvPr id="19" name="icon disc"/>
          <p:cNvSpPr/>
          <p:nvPr/>
        </p:nvSpPr>
        <p:spPr>
          <a:xfrm>
            <a:off x="9180576" y="1645920"/>
            <a:ext cx="731520" cy="731520"/>
          </a:xfrm>
          <a:prstGeom prst="ellipse">
            <a:avLst/>
          </a:prstGeom>
          <a:solidFill>
            <a:schemeClr val="bg1"/>
          </a:solidFill>
          <a:ln w="12700">
            <a:solidFill>
              <a:schemeClr val="bg1"/>
            </a:solidFill>
            <a:prstDash val="solid"/>
          </a:ln>
        </p:spPr>
      </p:sp>
      <p:pic>
        <p:nvPicPr>
          <p:cNvPr id="20" name="Image 3" descr="The NGO"/>
          <p:cNvPicPr>
            <a:picLocks noChangeAspect="1"/>
          </p:cNvPicPr>
          <p:nvPr/>
        </p:nvPicPr>
        <p:blipFill>
          <a:blip r:embed="rId6"/>
          <a:stretch>
            <a:fillRect/>
          </a:stretch>
        </p:blipFill>
        <p:spPr>
          <a:xfrm>
            <a:off x="9363456" y="1828800"/>
            <a:ext cx="365760" cy="365760"/>
          </a:xfrm>
          <a:prstGeom prst="rect">
            <a:avLst/>
          </a:prstGeom>
        </p:spPr>
      </p:pic>
      <p:sp>
        <p:nvSpPr>
          <p:cNvPr id="21" name="Text 15"/>
          <p:cNvSpPr txBox="1"/>
          <p:nvPr/>
        </p:nvSpPr>
        <p:spPr>
          <a:xfrm>
            <a:off x="9180576" y="2560320"/>
            <a:ext cx="2286000" cy="36576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The NGO</a:t>
            </a:r>
            <a:endParaRPr lang="en-US" sz="2000" dirty="0"/>
          </a:p>
        </p:txBody>
      </p:sp>
      <p:sp>
        <p:nvSpPr>
          <p:cNvPr id="22" name="Text 16"/>
          <p:cNvSpPr txBox="1"/>
          <p:nvPr/>
        </p:nvSpPr>
        <p:spPr>
          <a:xfrm>
            <a:off x="9180576" y="3017520"/>
            <a:ext cx="2286000" cy="1005840"/>
          </a:xfrm>
          <a:prstGeom prst="rect">
            <a:avLst/>
          </a:prstGeom>
          <a:noFill/>
          <a:ln/>
        </p:spPr>
        <p:txBody>
          <a:bodyPr wrap="square" lIns="0" tIns="0" rIns="0" bIns="0" rtlCol="0" anchor="t"/>
          <a:lstStyle/>
          <a:p>
            <a:pPr marL="0" indent="0">
              <a:buNone/>
            </a:pPr>
            <a:r>
              <a:rPr lang="en-US" sz="1400" dirty="0">
                <a:solidFill>
                  <a:schemeClr val="tx1"/>
                </a:solidFill>
              </a:rPr>
              <a:t>A documented design it can build on without us</a:t>
            </a:r>
            <a:endParaRPr lang="en-US" sz="1400" dirty="0"/>
          </a:p>
        </p:txBody>
      </p:sp>
      <p:sp>
        <p:nvSpPr>
          <p:cNvPr id="23" name="Text 17"/>
          <p:cNvSpPr txBox="1"/>
          <p:nvPr/>
        </p:nvSpPr>
        <p:spPr>
          <a:xfrm>
            <a:off x="548640" y="4160520"/>
            <a:ext cx="7315200" cy="320040"/>
          </a:xfrm>
          <a:prstGeom prst="rect">
            <a:avLst/>
          </a:prstGeom>
          <a:noFill/>
          <a:ln/>
        </p:spPr>
        <p:txBody>
          <a:bodyPr wrap="square" lIns="0" tIns="0" rIns="0" bIns="0" rtlCol="0" anchor="t"/>
          <a:lstStyle/>
          <a:p>
            <a:pPr marL="0" indent="0">
              <a:buNone/>
            </a:pPr>
            <a:r>
              <a:rPr lang="en-US" sz="1800" b="1" dirty="0">
                <a:solidFill>
                  <a:schemeClr val="accent4"/>
                </a:solidFill>
              </a:rPr>
              <a:t>Linked UN Sustainable Development Goals</a:t>
            </a:r>
            <a:endParaRPr lang="en-US" sz="1800" dirty="0"/>
          </a:p>
        </p:txBody>
      </p:sp>
      <p:sp>
        <p:nvSpPr>
          <p:cNvPr id="24" name="sdg 1"/>
          <p:cNvSpPr/>
          <p:nvPr/>
        </p:nvSpPr>
        <p:spPr>
          <a:xfrm>
            <a:off x="548640" y="4617720"/>
            <a:ext cx="2651760" cy="1508760"/>
          </a:xfrm>
          <a:prstGeom prst="roundRect">
            <a:avLst>
              <a:gd name="adj" fmla="val 4848"/>
            </a:avLst>
          </a:prstGeom>
          <a:solidFill>
            <a:schemeClr val="bg1"/>
          </a:solidFill>
          <a:ln w="9525">
            <a:solidFill>
              <a:schemeClr val="accent3"/>
            </a:solidFill>
            <a:prstDash val="solid"/>
          </a:ln>
        </p:spPr>
      </p:sp>
      <p:sp>
        <p:nvSpPr>
          <p:cNvPr id="25" name="Text 19"/>
          <p:cNvSpPr txBox="1"/>
          <p:nvPr/>
        </p:nvSpPr>
        <p:spPr>
          <a:xfrm>
            <a:off x="731520" y="4754880"/>
            <a:ext cx="2286000" cy="274320"/>
          </a:xfrm>
          <a:prstGeom prst="rect">
            <a:avLst/>
          </a:prstGeom>
          <a:noFill/>
          <a:ln/>
        </p:spPr>
        <p:txBody>
          <a:bodyPr wrap="square" lIns="0" tIns="0" rIns="0" bIns="0" rtlCol="0" anchor="t"/>
          <a:lstStyle/>
          <a:p>
            <a:pPr marL="0" indent="0">
              <a:buNone/>
            </a:pPr>
            <a:r>
              <a:rPr lang="en-US" sz="1500" b="1" dirty="0">
                <a:solidFill>
                  <a:schemeClr val="accent1"/>
                </a:solidFill>
              </a:rPr>
              <a:t>SDG 3</a:t>
            </a:r>
            <a:endParaRPr lang="en-US" sz="1500" dirty="0"/>
          </a:p>
        </p:txBody>
      </p:sp>
      <p:sp>
        <p:nvSpPr>
          <p:cNvPr id="26" name="Text 20"/>
          <p:cNvSpPr txBox="1"/>
          <p:nvPr/>
        </p:nvSpPr>
        <p:spPr>
          <a:xfrm>
            <a:off x="731520" y="5047488"/>
            <a:ext cx="2286000" cy="457200"/>
          </a:xfrm>
          <a:prstGeom prst="rect">
            <a:avLst/>
          </a:prstGeom>
          <a:noFill/>
          <a:ln/>
        </p:spPr>
        <p:txBody>
          <a:bodyPr wrap="square" lIns="0" tIns="0" rIns="0" bIns="0" rtlCol="0" anchor="t"/>
          <a:lstStyle/>
          <a:p>
            <a:pPr marL="0" indent="0">
              <a:buNone/>
            </a:pPr>
            <a:r>
              <a:rPr lang="en-US" sz="1400" b="1" dirty="0">
                <a:solidFill>
                  <a:schemeClr val="tx1"/>
                </a:solidFill>
              </a:rPr>
              <a:t>Good health and well-being</a:t>
            </a:r>
            <a:endParaRPr lang="en-US" sz="1400" dirty="0"/>
          </a:p>
        </p:txBody>
      </p:sp>
      <p:sp>
        <p:nvSpPr>
          <p:cNvPr id="27" name="Text 21"/>
          <p:cNvSpPr txBox="1"/>
          <p:nvPr/>
        </p:nvSpPr>
        <p:spPr>
          <a:xfrm>
            <a:off x="731520" y="5577840"/>
            <a:ext cx="2286000" cy="457200"/>
          </a:xfrm>
          <a:prstGeom prst="rect">
            <a:avLst/>
          </a:prstGeom>
          <a:noFill/>
          <a:ln/>
        </p:spPr>
        <p:txBody>
          <a:bodyPr wrap="square" lIns="0" tIns="0" rIns="0" bIns="0" rtlCol="0" anchor="t"/>
          <a:lstStyle/>
          <a:p>
            <a:pPr marL="0" indent="0">
              <a:buNone/>
            </a:pPr>
            <a:r>
              <a:rPr lang="en-US" sz="1400" dirty="0">
                <a:solidFill>
                  <a:schemeClr val="accent6"/>
                </a:solidFill>
              </a:rPr>
              <a:t>Safer daily life near forests</a:t>
            </a:r>
            <a:endParaRPr lang="en-US" sz="1400" dirty="0"/>
          </a:p>
        </p:txBody>
      </p:sp>
      <p:sp>
        <p:nvSpPr>
          <p:cNvPr id="28" name="sdg 2"/>
          <p:cNvSpPr/>
          <p:nvPr/>
        </p:nvSpPr>
        <p:spPr>
          <a:xfrm>
            <a:off x="3364992" y="4617720"/>
            <a:ext cx="2651760" cy="1508760"/>
          </a:xfrm>
          <a:prstGeom prst="roundRect">
            <a:avLst>
              <a:gd name="adj" fmla="val 4848"/>
            </a:avLst>
          </a:prstGeom>
          <a:solidFill>
            <a:schemeClr val="bg1"/>
          </a:solidFill>
          <a:ln w="9525">
            <a:solidFill>
              <a:schemeClr val="accent3"/>
            </a:solidFill>
            <a:prstDash val="solid"/>
          </a:ln>
        </p:spPr>
      </p:sp>
      <p:sp>
        <p:nvSpPr>
          <p:cNvPr id="29" name="Text 23"/>
          <p:cNvSpPr txBox="1"/>
          <p:nvPr/>
        </p:nvSpPr>
        <p:spPr>
          <a:xfrm>
            <a:off x="3547872" y="4754880"/>
            <a:ext cx="2286000" cy="274320"/>
          </a:xfrm>
          <a:prstGeom prst="rect">
            <a:avLst/>
          </a:prstGeom>
          <a:noFill/>
          <a:ln/>
        </p:spPr>
        <p:txBody>
          <a:bodyPr wrap="square" lIns="0" tIns="0" rIns="0" bIns="0" rtlCol="0" anchor="t"/>
          <a:lstStyle/>
          <a:p>
            <a:pPr marL="0" indent="0">
              <a:buNone/>
            </a:pPr>
            <a:r>
              <a:rPr lang="en-US" sz="1500" b="1" dirty="0">
                <a:solidFill>
                  <a:schemeClr val="accent1"/>
                </a:solidFill>
              </a:rPr>
              <a:t>SDG 9</a:t>
            </a:r>
            <a:endParaRPr lang="en-US" sz="1500" dirty="0"/>
          </a:p>
        </p:txBody>
      </p:sp>
      <p:sp>
        <p:nvSpPr>
          <p:cNvPr id="30" name="Text 24"/>
          <p:cNvSpPr txBox="1"/>
          <p:nvPr/>
        </p:nvSpPr>
        <p:spPr>
          <a:xfrm>
            <a:off x="3547872" y="5047488"/>
            <a:ext cx="2286000" cy="457200"/>
          </a:xfrm>
          <a:prstGeom prst="rect">
            <a:avLst/>
          </a:prstGeom>
          <a:noFill/>
          <a:ln/>
        </p:spPr>
        <p:txBody>
          <a:bodyPr wrap="square" lIns="0" tIns="0" rIns="0" bIns="0" rtlCol="0" anchor="t"/>
          <a:lstStyle/>
          <a:p>
            <a:pPr marL="0" indent="0">
              <a:buNone/>
            </a:pPr>
            <a:r>
              <a:rPr lang="en-US" sz="1400" b="1" dirty="0">
                <a:solidFill>
                  <a:schemeClr val="tx1"/>
                </a:solidFill>
              </a:rPr>
              <a:t>Industry, innovation, infrastructure</a:t>
            </a:r>
            <a:endParaRPr lang="en-US" sz="1400" dirty="0"/>
          </a:p>
        </p:txBody>
      </p:sp>
      <p:sp>
        <p:nvSpPr>
          <p:cNvPr id="31" name="Text 25"/>
          <p:cNvSpPr txBox="1"/>
          <p:nvPr/>
        </p:nvSpPr>
        <p:spPr>
          <a:xfrm>
            <a:off x="3547872" y="5577840"/>
            <a:ext cx="2286000" cy="457200"/>
          </a:xfrm>
          <a:prstGeom prst="rect">
            <a:avLst/>
          </a:prstGeom>
          <a:noFill/>
          <a:ln/>
        </p:spPr>
        <p:txBody>
          <a:bodyPr wrap="square" lIns="0" tIns="0" rIns="0" bIns="0" rtlCol="0" anchor="t"/>
          <a:lstStyle/>
          <a:p>
            <a:pPr marL="0" indent="0">
              <a:buNone/>
            </a:pPr>
            <a:r>
              <a:rPr lang="en-US" sz="1400" dirty="0">
                <a:solidFill>
                  <a:schemeClr val="accent6"/>
                </a:solidFill>
              </a:rPr>
              <a:t>Low-power field technology</a:t>
            </a:r>
            <a:endParaRPr lang="en-US" sz="1400" dirty="0"/>
          </a:p>
        </p:txBody>
      </p:sp>
      <p:sp>
        <p:nvSpPr>
          <p:cNvPr id="32" name="sdg 3"/>
          <p:cNvSpPr/>
          <p:nvPr/>
        </p:nvSpPr>
        <p:spPr>
          <a:xfrm>
            <a:off x="6181344" y="4617720"/>
            <a:ext cx="2651760" cy="1508760"/>
          </a:xfrm>
          <a:prstGeom prst="roundRect">
            <a:avLst>
              <a:gd name="adj" fmla="val 4848"/>
            </a:avLst>
          </a:prstGeom>
          <a:solidFill>
            <a:schemeClr val="bg1"/>
          </a:solidFill>
          <a:ln w="9525">
            <a:solidFill>
              <a:schemeClr val="accent3"/>
            </a:solidFill>
            <a:prstDash val="solid"/>
          </a:ln>
        </p:spPr>
      </p:sp>
      <p:sp>
        <p:nvSpPr>
          <p:cNvPr id="33" name="Text 27"/>
          <p:cNvSpPr txBox="1"/>
          <p:nvPr/>
        </p:nvSpPr>
        <p:spPr>
          <a:xfrm>
            <a:off x="6364224" y="4754880"/>
            <a:ext cx="2286000" cy="274320"/>
          </a:xfrm>
          <a:prstGeom prst="rect">
            <a:avLst/>
          </a:prstGeom>
          <a:noFill/>
          <a:ln/>
        </p:spPr>
        <p:txBody>
          <a:bodyPr wrap="square" lIns="0" tIns="0" rIns="0" bIns="0" rtlCol="0" anchor="t"/>
          <a:lstStyle/>
          <a:p>
            <a:pPr marL="0" indent="0">
              <a:buNone/>
            </a:pPr>
            <a:r>
              <a:rPr lang="en-US" sz="1500" b="1" dirty="0">
                <a:solidFill>
                  <a:schemeClr val="accent1"/>
                </a:solidFill>
              </a:rPr>
              <a:t>SDG 11</a:t>
            </a:r>
            <a:endParaRPr lang="en-US" sz="1500" dirty="0"/>
          </a:p>
        </p:txBody>
      </p:sp>
      <p:sp>
        <p:nvSpPr>
          <p:cNvPr id="34" name="Text 28"/>
          <p:cNvSpPr txBox="1"/>
          <p:nvPr/>
        </p:nvSpPr>
        <p:spPr>
          <a:xfrm>
            <a:off x="6364224" y="5047488"/>
            <a:ext cx="2286000" cy="457200"/>
          </a:xfrm>
          <a:prstGeom prst="rect">
            <a:avLst/>
          </a:prstGeom>
          <a:noFill/>
          <a:ln/>
        </p:spPr>
        <p:txBody>
          <a:bodyPr wrap="square" lIns="0" tIns="0" rIns="0" bIns="0" rtlCol="0" anchor="t"/>
          <a:lstStyle/>
          <a:p>
            <a:pPr marL="0" indent="0">
              <a:buNone/>
            </a:pPr>
            <a:r>
              <a:rPr lang="en-US" sz="1400" b="1" dirty="0">
                <a:solidFill>
                  <a:schemeClr val="tx1"/>
                </a:solidFill>
              </a:rPr>
              <a:t>Sustainable communities</a:t>
            </a:r>
            <a:endParaRPr lang="en-US" sz="1400" dirty="0"/>
          </a:p>
        </p:txBody>
      </p:sp>
      <p:sp>
        <p:nvSpPr>
          <p:cNvPr id="35" name="Text 29"/>
          <p:cNvSpPr txBox="1"/>
          <p:nvPr/>
        </p:nvSpPr>
        <p:spPr>
          <a:xfrm>
            <a:off x="6364224" y="5577840"/>
            <a:ext cx="2286000" cy="457200"/>
          </a:xfrm>
          <a:prstGeom prst="rect">
            <a:avLst/>
          </a:prstGeom>
          <a:noFill/>
          <a:ln/>
        </p:spPr>
        <p:txBody>
          <a:bodyPr wrap="square" lIns="0" tIns="0" rIns="0" bIns="0" rtlCol="0" anchor="t"/>
          <a:lstStyle/>
          <a:p>
            <a:pPr marL="0" indent="0">
              <a:buNone/>
            </a:pPr>
            <a:r>
              <a:rPr lang="en-US" sz="1400" dirty="0">
                <a:solidFill>
                  <a:schemeClr val="accent6"/>
                </a:solidFill>
              </a:rPr>
              <a:t>Alerts built for villages</a:t>
            </a:r>
            <a:endParaRPr lang="en-US" sz="1400" dirty="0"/>
          </a:p>
        </p:txBody>
      </p:sp>
      <p:sp>
        <p:nvSpPr>
          <p:cNvPr id="36" name="sdg 4"/>
          <p:cNvSpPr/>
          <p:nvPr/>
        </p:nvSpPr>
        <p:spPr>
          <a:xfrm>
            <a:off x="8997696" y="4617720"/>
            <a:ext cx="2651760" cy="1508760"/>
          </a:xfrm>
          <a:prstGeom prst="roundRect">
            <a:avLst>
              <a:gd name="adj" fmla="val 4848"/>
            </a:avLst>
          </a:prstGeom>
          <a:solidFill>
            <a:schemeClr val="bg1"/>
          </a:solidFill>
          <a:ln w="9525">
            <a:solidFill>
              <a:schemeClr val="accent3"/>
            </a:solidFill>
            <a:prstDash val="solid"/>
          </a:ln>
        </p:spPr>
      </p:sp>
      <p:sp>
        <p:nvSpPr>
          <p:cNvPr id="37" name="Text 31"/>
          <p:cNvSpPr txBox="1"/>
          <p:nvPr/>
        </p:nvSpPr>
        <p:spPr>
          <a:xfrm>
            <a:off x="9180576" y="4754880"/>
            <a:ext cx="2286000" cy="274320"/>
          </a:xfrm>
          <a:prstGeom prst="rect">
            <a:avLst/>
          </a:prstGeom>
          <a:noFill/>
          <a:ln/>
        </p:spPr>
        <p:txBody>
          <a:bodyPr wrap="square" lIns="0" tIns="0" rIns="0" bIns="0" rtlCol="0" anchor="t"/>
          <a:lstStyle/>
          <a:p>
            <a:pPr marL="0" indent="0">
              <a:buNone/>
            </a:pPr>
            <a:r>
              <a:rPr lang="en-US" sz="1500" b="1" dirty="0">
                <a:solidFill>
                  <a:schemeClr val="accent1"/>
                </a:solidFill>
              </a:rPr>
              <a:t>SDG 15</a:t>
            </a:r>
            <a:endParaRPr lang="en-US" sz="1500" dirty="0"/>
          </a:p>
        </p:txBody>
      </p:sp>
      <p:sp>
        <p:nvSpPr>
          <p:cNvPr id="38" name="Text 32"/>
          <p:cNvSpPr txBox="1"/>
          <p:nvPr/>
        </p:nvSpPr>
        <p:spPr>
          <a:xfrm>
            <a:off x="9180576" y="5047488"/>
            <a:ext cx="2286000" cy="457200"/>
          </a:xfrm>
          <a:prstGeom prst="rect">
            <a:avLst/>
          </a:prstGeom>
          <a:noFill/>
          <a:ln/>
        </p:spPr>
        <p:txBody>
          <a:bodyPr wrap="square" lIns="0" tIns="0" rIns="0" bIns="0" rtlCol="0" anchor="t"/>
          <a:lstStyle/>
          <a:p>
            <a:pPr marL="0" indent="0">
              <a:buNone/>
            </a:pPr>
            <a:r>
              <a:rPr lang="en-US" sz="1400" b="1" dirty="0">
                <a:solidFill>
                  <a:schemeClr val="tx1"/>
                </a:solidFill>
              </a:rPr>
              <a:t>Life on land</a:t>
            </a:r>
            <a:endParaRPr lang="en-US" sz="1400" dirty="0"/>
          </a:p>
        </p:txBody>
      </p:sp>
      <p:sp>
        <p:nvSpPr>
          <p:cNvPr id="39" name="Text 33"/>
          <p:cNvSpPr txBox="1"/>
          <p:nvPr/>
        </p:nvSpPr>
        <p:spPr>
          <a:xfrm>
            <a:off x="9180576" y="5577840"/>
            <a:ext cx="2286000" cy="457200"/>
          </a:xfrm>
          <a:prstGeom prst="rect">
            <a:avLst/>
          </a:prstGeom>
          <a:noFill/>
          <a:ln/>
        </p:spPr>
        <p:txBody>
          <a:bodyPr wrap="square" lIns="0" tIns="0" rIns="0" bIns="0" rtlCol="0" anchor="t"/>
          <a:lstStyle/>
          <a:p>
            <a:pPr marL="0" indent="0">
              <a:buNone/>
            </a:pPr>
            <a:r>
              <a:rPr lang="en-US" sz="1400" dirty="0">
                <a:solidFill>
                  <a:schemeClr val="accent6"/>
                </a:solidFill>
              </a:rPr>
              <a:t>Predators and habitat protected</a:t>
            </a:r>
            <a:endParaRPr lang="en-US" sz="1400" dirty="0"/>
          </a:p>
        </p:txBody>
      </p:sp>
      <p:sp>
        <p:nvSpPr>
          <p:cNvPr id="4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Screens for residents and forest staff</a:t>
            </a:r>
            <a:endParaRPr lang="en-US" sz="3400" dirty="0"/>
          </a:p>
        </p:txBody>
      </p:sp>
      <p:sp>
        <p:nvSpPr>
          <p:cNvPr id="3" name="Text 1"/>
          <p:cNvSpPr txBox="1"/>
          <p:nvPr/>
        </p:nvSpPr>
        <p:spPr>
          <a:xfrm>
            <a:off x="548640" y="1371600"/>
            <a:ext cx="3291840" cy="320040"/>
          </a:xfrm>
          <a:prstGeom prst="rect">
            <a:avLst/>
          </a:prstGeom>
          <a:noFill/>
          <a:ln/>
        </p:spPr>
        <p:txBody>
          <a:bodyPr wrap="square" lIns="0" tIns="0" rIns="0" bIns="0" rtlCol="0" anchor="t"/>
          <a:lstStyle/>
          <a:p>
            <a:pPr marL="0" indent="0">
              <a:buNone/>
            </a:pPr>
            <a:r>
              <a:rPr lang="en-US" sz="1800" b="1" dirty="0">
                <a:solidFill>
                  <a:schemeClr val="accent4"/>
                </a:solidFill>
              </a:rPr>
              <a:t>Built by Amit, Akshat, Lakshya</a:t>
            </a:r>
            <a:endParaRPr lang="en-US" sz="1800" dirty="0"/>
          </a:p>
        </p:txBody>
      </p:sp>
      <p:sp>
        <p:nvSpPr>
          <p:cNvPr id="4" name="Text 2"/>
          <p:cNvSpPr txBox="1"/>
          <p:nvPr/>
        </p:nvSpPr>
        <p:spPr>
          <a:xfrm>
            <a:off x="548640" y="1783080"/>
            <a:ext cx="320040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Two sign-in roles: resident and forest staff</a:t>
            </a:r>
            <a:endParaRPr lang="en-US" sz="1500" dirty="0"/>
          </a:p>
          <a:p>
            <a:pPr marL="342900" indent="-342900">
              <a:spcAft>
                <a:spcPts val="800"/>
              </a:spcAft>
              <a:buSzPct val="100000"/>
              <a:buChar char="•"/>
            </a:pPr>
            <a:r>
              <a:rPr lang="en-US" sz="1500" dirty="0">
                <a:solidFill>
                  <a:schemeClr val="tx1"/>
                </a:solidFill>
              </a:rPr>
              <a:t>A home screen with status, nearby alerts and a sighting report</a:t>
            </a:r>
            <a:endParaRPr lang="en-US" sz="1500" dirty="0"/>
          </a:p>
          <a:p>
            <a:pPr marL="342900" indent="-342900">
              <a:spcAft>
                <a:spcPts val="800"/>
              </a:spcAft>
              <a:buSzPct val="100000"/>
              <a:buChar char="•"/>
            </a:pPr>
            <a:r>
              <a:rPr lang="en-US" sz="1500" dirty="0">
                <a:solidFill>
                  <a:schemeClr val="tx1"/>
                </a:solidFill>
              </a:rPr>
              <a:t>A map marking a danger zone and safe areas</a:t>
            </a:r>
            <a:endParaRPr lang="en-US" sz="1500" dirty="0"/>
          </a:p>
          <a:p>
            <a:pPr marL="342900" indent="-342900">
              <a:spcAft>
                <a:spcPts val="800"/>
              </a:spcAft>
              <a:buSzPct val="100000"/>
              <a:buChar char="•"/>
            </a:pPr>
            <a:r>
              <a:rPr lang="en-US" sz="1500" dirty="0">
                <a:solidFill>
                  <a:schemeClr val="tx1"/>
                </a:solidFill>
              </a:rPr>
              <a:t>Staff tabs for alerts, map, reports and notices</a:t>
            </a:r>
            <a:endParaRPr lang="en-US" sz="1500" dirty="0"/>
          </a:p>
        </p:txBody>
      </p:sp>
      <p:sp>
        <p:nvSpPr>
          <p:cNvPr id="5" name="sample data note"/>
          <p:cNvSpPr/>
          <p:nvPr/>
        </p:nvSpPr>
        <p:spPr>
          <a:xfrm>
            <a:off x="548640" y="4892040"/>
            <a:ext cx="3200400" cy="1234440"/>
          </a:xfrm>
          <a:prstGeom prst="roundRect">
            <a:avLst>
              <a:gd name="adj" fmla="val 5926"/>
            </a:avLst>
          </a:prstGeom>
          <a:solidFill>
            <a:schemeClr val="accent2">
              <a:alpha val="15000"/>
            </a:schemeClr>
          </a:solidFill>
          <a:ln w="9525">
            <a:solidFill>
              <a:schemeClr val="accent2"/>
            </a:solidFill>
            <a:prstDash val="solid"/>
          </a:ln>
        </p:spPr>
      </p:sp>
      <p:sp>
        <p:nvSpPr>
          <p:cNvPr id="6" name="Text 4"/>
          <p:cNvSpPr txBox="1"/>
          <p:nvPr/>
        </p:nvSpPr>
        <p:spPr>
          <a:xfrm>
            <a:off x="731520" y="4892040"/>
            <a:ext cx="2880360" cy="1234440"/>
          </a:xfrm>
          <a:prstGeom prst="rect">
            <a:avLst/>
          </a:prstGeom>
          <a:noFill/>
          <a:ln/>
        </p:spPr>
        <p:txBody>
          <a:bodyPr wrap="square" lIns="0" tIns="0" rIns="0" bIns="0" rtlCol="0" anchor="ctr"/>
          <a:lstStyle/>
          <a:p>
            <a:pPr marL="0" indent="0">
              <a:buNone/>
            </a:pPr>
            <a:r>
              <a:rPr lang="en-US" sz="1300" b="1" dirty="0">
                <a:solidFill>
                  <a:schemeClr val="tx1"/>
                </a:solidFill>
              </a:rPr>
              <a:t>Every screen shows demo records behind a dummy sign-in. No real accounts or personal details are stored.</a:t>
            </a:r>
            <a:endParaRPr lang="en-US" sz="1300" dirty="0"/>
          </a:p>
        </p:txBody>
      </p:sp>
      <p:pic>
        <p:nvPicPr>
          <p:cNvPr id="7" name="Image 0" descr="Home: status and alerts"/>
          <p:cNvPicPr>
            <a:picLocks noChangeAspect="1"/>
          </p:cNvPicPr>
          <p:nvPr/>
        </p:nvPicPr>
        <p:blipFill>
          <a:blip r:embed="rId3"/>
          <a:stretch>
            <a:fillRect/>
          </a:stretch>
        </p:blipFill>
        <p:spPr>
          <a:xfrm>
            <a:off x="4110886" y="1463040"/>
            <a:ext cx="1699467" cy="3611880"/>
          </a:xfrm>
          <a:prstGeom prst="rect">
            <a:avLst/>
          </a:prstGeom>
        </p:spPr>
      </p:pic>
      <p:sp>
        <p:nvSpPr>
          <p:cNvPr id="8" name="Text 5"/>
          <p:cNvSpPr txBox="1"/>
          <p:nvPr/>
        </p:nvSpPr>
        <p:spPr>
          <a:xfrm>
            <a:off x="4023360" y="5212080"/>
            <a:ext cx="1874520" cy="457200"/>
          </a:xfrm>
          <a:prstGeom prst="rect">
            <a:avLst/>
          </a:prstGeom>
          <a:noFill/>
          <a:ln/>
        </p:spPr>
        <p:txBody>
          <a:bodyPr wrap="square" lIns="0" tIns="0" rIns="0" bIns="0" rtlCol="0" anchor="t"/>
          <a:lstStyle/>
          <a:p>
            <a:pPr marL="0" indent="0" algn="ctr">
              <a:buNone/>
            </a:pPr>
            <a:r>
              <a:rPr lang="en-US" sz="1200" i="1" dirty="0">
                <a:solidFill>
                  <a:schemeClr val="accent6"/>
                </a:solidFill>
              </a:rPr>
              <a:t>Home: status and alerts</a:t>
            </a:r>
            <a:endParaRPr lang="en-US" sz="1200" dirty="0"/>
          </a:p>
        </p:txBody>
      </p:sp>
      <p:pic>
        <p:nvPicPr>
          <p:cNvPr id="9" name="Image 1" descr="Map: approximate zone"/>
          <p:cNvPicPr>
            <a:picLocks noChangeAspect="1"/>
          </p:cNvPicPr>
          <p:nvPr/>
        </p:nvPicPr>
        <p:blipFill>
          <a:blip r:embed="rId4"/>
          <a:stretch>
            <a:fillRect/>
          </a:stretch>
        </p:blipFill>
        <p:spPr>
          <a:xfrm>
            <a:off x="6027315" y="1463040"/>
            <a:ext cx="1743666" cy="3611880"/>
          </a:xfrm>
          <a:prstGeom prst="rect">
            <a:avLst/>
          </a:prstGeom>
        </p:spPr>
      </p:pic>
      <p:sp>
        <p:nvSpPr>
          <p:cNvPr id="10" name="Text 6"/>
          <p:cNvSpPr txBox="1"/>
          <p:nvPr/>
        </p:nvSpPr>
        <p:spPr>
          <a:xfrm>
            <a:off x="5961888" y="5212080"/>
            <a:ext cx="1874520" cy="457200"/>
          </a:xfrm>
          <a:prstGeom prst="rect">
            <a:avLst/>
          </a:prstGeom>
          <a:noFill/>
          <a:ln/>
        </p:spPr>
        <p:txBody>
          <a:bodyPr wrap="square" lIns="0" tIns="0" rIns="0" bIns="0" rtlCol="0" anchor="t"/>
          <a:lstStyle/>
          <a:p>
            <a:pPr marL="0" indent="0" algn="ctr">
              <a:buNone/>
            </a:pPr>
            <a:r>
              <a:rPr lang="en-US" sz="1200" i="1" dirty="0">
                <a:solidFill>
                  <a:schemeClr val="accent6"/>
                </a:solidFill>
              </a:rPr>
              <a:t>Map: approximate zone</a:t>
            </a:r>
            <a:endParaRPr lang="en-US" sz="1200" dirty="0"/>
          </a:p>
        </p:txBody>
      </p:sp>
      <p:pic>
        <p:nvPicPr>
          <p:cNvPr id="11" name="Image 2" descr="Alert with risk level"/>
          <p:cNvPicPr>
            <a:picLocks noChangeAspect="1"/>
          </p:cNvPicPr>
          <p:nvPr/>
        </p:nvPicPr>
        <p:blipFill>
          <a:blip r:embed="rId5"/>
          <a:stretch>
            <a:fillRect/>
          </a:stretch>
        </p:blipFill>
        <p:spPr>
          <a:xfrm>
            <a:off x="7916278" y="1463040"/>
            <a:ext cx="1842796" cy="3611880"/>
          </a:xfrm>
          <a:prstGeom prst="rect">
            <a:avLst/>
          </a:prstGeom>
        </p:spPr>
      </p:pic>
      <p:sp>
        <p:nvSpPr>
          <p:cNvPr id="12" name="Text 7"/>
          <p:cNvSpPr txBox="1"/>
          <p:nvPr/>
        </p:nvSpPr>
        <p:spPr>
          <a:xfrm>
            <a:off x="7900416" y="5212080"/>
            <a:ext cx="1874520" cy="457200"/>
          </a:xfrm>
          <a:prstGeom prst="rect">
            <a:avLst/>
          </a:prstGeom>
          <a:noFill/>
          <a:ln/>
        </p:spPr>
        <p:txBody>
          <a:bodyPr wrap="square" lIns="0" tIns="0" rIns="0" bIns="0" rtlCol="0" anchor="t"/>
          <a:lstStyle/>
          <a:p>
            <a:pPr marL="0" indent="0" algn="ctr">
              <a:buNone/>
            </a:pPr>
            <a:r>
              <a:rPr lang="en-US" sz="1200" i="1" dirty="0">
                <a:solidFill>
                  <a:schemeClr val="accent6"/>
                </a:solidFill>
              </a:rPr>
              <a:t>Alert with risk level</a:t>
            </a:r>
            <a:endParaRPr lang="en-US" sz="1200" dirty="0"/>
          </a:p>
        </p:txBody>
      </p:sp>
      <p:pic>
        <p:nvPicPr>
          <p:cNvPr id="13" name="Image 3" descr="Forest portal (sample)"/>
          <p:cNvPicPr>
            <a:picLocks noChangeAspect="1"/>
          </p:cNvPicPr>
          <p:nvPr/>
        </p:nvPicPr>
        <p:blipFill>
          <a:blip r:embed="rId6"/>
          <a:stretch>
            <a:fillRect/>
          </a:stretch>
        </p:blipFill>
        <p:spPr>
          <a:xfrm>
            <a:off x="9869044" y="1463040"/>
            <a:ext cx="1814320" cy="3611880"/>
          </a:xfrm>
          <a:prstGeom prst="rect">
            <a:avLst/>
          </a:prstGeom>
        </p:spPr>
      </p:pic>
      <p:sp>
        <p:nvSpPr>
          <p:cNvPr id="14" name="Text 8"/>
          <p:cNvSpPr txBox="1"/>
          <p:nvPr/>
        </p:nvSpPr>
        <p:spPr>
          <a:xfrm>
            <a:off x="9838944" y="5212080"/>
            <a:ext cx="1874520" cy="457200"/>
          </a:xfrm>
          <a:prstGeom prst="rect">
            <a:avLst/>
          </a:prstGeom>
          <a:noFill/>
          <a:ln/>
        </p:spPr>
        <p:txBody>
          <a:bodyPr wrap="square" lIns="0" tIns="0" rIns="0" bIns="0" rtlCol="0" anchor="t"/>
          <a:lstStyle/>
          <a:p>
            <a:pPr marL="0" indent="0" algn="ctr">
              <a:buNone/>
            </a:pPr>
            <a:r>
              <a:rPr lang="en-US" sz="1200" i="1" dirty="0">
                <a:solidFill>
                  <a:schemeClr val="accent6"/>
                </a:solidFill>
              </a:rPr>
              <a:t>Forest portal (sample)</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Choosing the hardware</a:t>
            </a:r>
            <a:endParaRPr lang="en-US" sz="3400" dirty="0"/>
          </a:p>
        </p:txBody>
      </p:sp>
      <p:sp>
        <p:nvSpPr>
          <p:cNvPr id="3" name="dot"/>
          <p:cNvSpPr/>
          <p:nvPr/>
        </p:nvSpPr>
        <p:spPr>
          <a:xfrm>
            <a:off x="548640" y="1197864"/>
            <a:ext cx="146304" cy="146304"/>
          </a:xfrm>
          <a:prstGeom prst="ellipse">
            <a:avLst/>
          </a:prstGeom>
          <a:solidFill>
            <a:schemeClr val="accent2"/>
          </a:solidFill>
          <a:ln w="12700">
            <a:solidFill>
              <a:schemeClr val="accent2"/>
            </a:solidFill>
            <a:prstDash val="solid"/>
          </a:ln>
        </p:spPr>
      </p:sp>
      <p:sp>
        <p:nvSpPr>
          <p:cNvPr id="4" name="who"/>
          <p:cNvSpPr txBox="1"/>
          <p:nvPr/>
        </p:nvSpPr>
        <p:spPr>
          <a:xfrm>
            <a:off x="804672" y="1143000"/>
            <a:ext cx="10515600" cy="256032"/>
          </a:xfrm>
          <a:prstGeom prst="rect">
            <a:avLst/>
          </a:prstGeom>
          <a:noFill/>
          <a:ln/>
        </p:spPr>
        <p:txBody>
          <a:bodyPr wrap="square" lIns="0" tIns="0" rIns="0" bIns="0" rtlCol="0" anchor="ctr"/>
          <a:lstStyle/>
          <a:p>
            <a:r>
              <a:rPr lang="en-US" sz="1400" b="1" dirty="0">
                <a:solidFill>
                  <a:schemeClr val="tx2"/>
                </a:solidFill>
              </a:rPr>
              <a:t>Gaurang Yogesh </a:t>
            </a:r>
            <a:r>
              <a:rPr lang="en-US" sz="1400" b="1" dirty="0" err="1">
                <a:solidFill>
                  <a:schemeClr val="tx2"/>
                </a:solidFill>
              </a:rPr>
              <a:t>Surte</a:t>
            </a:r>
            <a:r>
              <a:rPr lang="en-US" sz="1400" b="1" dirty="0">
                <a:solidFill>
                  <a:schemeClr val="tx2"/>
                </a:solidFill>
              </a:rPr>
              <a:t>  25070126514, Aditya Shelar 24070126019</a:t>
            </a:r>
            <a:r>
              <a:rPr lang="en-US" sz="1400" dirty="0">
                <a:solidFill>
                  <a:schemeClr val="accent6"/>
                </a:solidFill>
              </a:rPr>
              <a:t>      Individual work 1 of 3      Weeks 6-11   (22 Aug - 26 Sep)</a:t>
            </a:r>
          </a:p>
        </p:txBody>
      </p:sp>
      <p:sp>
        <p:nvSpPr>
          <p:cNvPr id="5" name="hardware group 1"/>
          <p:cNvSpPr/>
          <p:nvPr/>
        </p:nvSpPr>
        <p:spPr>
          <a:xfrm>
            <a:off x="548640" y="1645920"/>
            <a:ext cx="3611880" cy="1874520"/>
          </a:xfrm>
          <a:prstGeom prst="roundRect">
            <a:avLst>
              <a:gd name="adj" fmla="val 3902"/>
            </a:avLst>
          </a:prstGeom>
          <a:solidFill>
            <a:schemeClr val="bg2"/>
          </a:solidFill>
          <a:ln w="9525">
            <a:solidFill>
              <a:schemeClr val="bg2"/>
            </a:solidFill>
            <a:prstDash val="solid"/>
          </a:ln>
        </p:spPr>
      </p:sp>
      <p:pic>
        <p:nvPicPr>
          <p:cNvPr id="6" name="Image 0" descr="Sense"/>
          <p:cNvPicPr>
            <a:picLocks noChangeAspect="1"/>
          </p:cNvPicPr>
          <p:nvPr/>
        </p:nvPicPr>
        <p:blipFill>
          <a:blip r:embed="rId3"/>
          <a:stretch>
            <a:fillRect/>
          </a:stretch>
        </p:blipFill>
        <p:spPr>
          <a:xfrm>
            <a:off x="731520" y="1828800"/>
            <a:ext cx="329184" cy="329184"/>
          </a:xfrm>
          <a:prstGeom prst="rect">
            <a:avLst/>
          </a:prstGeom>
        </p:spPr>
      </p:pic>
      <p:sp>
        <p:nvSpPr>
          <p:cNvPr id="7" name="Text 4"/>
          <p:cNvSpPr txBox="1"/>
          <p:nvPr/>
        </p:nvSpPr>
        <p:spPr>
          <a:xfrm>
            <a:off x="1188720" y="1810512"/>
            <a:ext cx="2743200" cy="36576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Sense</a:t>
            </a:r>
            <a:endParaRPr lang="en-US" sz="1800" dirty="0"/>
          </a:p>
        </p:txBody>
      </p:sp>
      <p:sp>
        <p:nvSpPr>
          <p:cNvPr id="8" name="Text 5"/>
          <p:cNvSpPr txBox="1"/>
          <p:nvPr/>
        </p:nvSpPr>
        <p:spPr>
          <a:xfrm>
            <a:off x="731520" y="2286000"/>
            <a:ext cx="3246120" cy="1188720"/>
          </a:xfrm>
          <a:prstGeom prst="rect">
            <a:avLst/>
          </a:prstGeom>
          <a:noFill/>
          <a:ln/>
        </p:spPr>
        <p:txBody>
          <a:bodyPr wrap="square" lIns="0" tIns="0" rIns="0" bIns="0" rtlCol="0" anchor="t"/>
          <a:lstStyle/>
          <a:p>
            <a:pPr marL="0" indent="0">
              <a:buNone/>
            </a:pPr>
            <a:r>
              <a:rPr lang="en-US" sz="1400" dirty="0">
                <a:solidFill>
                  <a:schemeClr val="tx1"/>
                </a:solidFill>
              </a:rPr>
              <a:t>Grove AI vision module with NPU and IR camera; ADXL355 vibration sensor; ICS-43434 microphone; NEO-M8 GPS</a:t>
            </a:r>
            <a:endParaRPr lang="en-US" sz="1400" dirty="0"/>
          </a:p>
        </p:txBody>
      </p:sp>
      <p:sp>
        <p:nvSpPr>
          <p:cNvPr id="9" name="hardware group 2"/>
          <p:cNvSpPr/>
          <p:nvPr/>
        </p:nvSpPr>
        <p:spPr>
          <a:xfrm>
            <a:off x="4297680" y="1645920"/>
            <a:ext cx="3611880" cy="1874520"/>
          </a:xfrm>
          <a:prstGeom prst="roundRect">
            <a:avLst>
              <a:gd name="adj" fmla="val 3902"/>
            </a:avLst>
          </a:prstGeom>
          <a:solidFill>
            <a:schemeClr val="bg2"/>
          </a:solidFill>
          <a:ln w="9525">
            <a:solidFill>
              <a:schemeClr val="bg2"/>
            </a:solidFill>
            <a:prstDash val="solid"/>
          </a:ln>
        </p:spPr>
      </p:sp>
      <p:pic>
        <p:nvPicPr>
          <p:cNvPr id="10" name="Image 1" descr="Think"/>
          <p:cNvPicPr>
            <a:picLocks noChangeAspect="1"/>
          </p:cNvPicPr>
          <p:nvPr/>
        </p:nvPicPr>
        <p:blipFill>
          <a:blip r:embed="rId4"/>
          <a:stretch>
            <a:fillRect/>
          </a:stretch>
        </p:blipFill>
        <p:spPr>
          <a:xfrm>
            <a:off x="4480560" y="1828800"/>
            <a:ext cx="329184" cy="329184"/>
          </a:xfrm>
          <a:prstGeom prst="rect">
            <a:avLst/>
          </a:prstGeom>
        </p:spPr>
      </p:pic>
      <p:sp>
        <p:nvSpPr>
          <p:cNvPr id="11" name="Text 7"/>
          <p:cNvSpPr txBox="1"/>
          <p:nvPr/>
        </p:nvSpPr>
        <p:spPr>
          <a:xfrm>
            <a:off x="4937760" y="1810512"/>
            <a:ext cx="2743200" cy="36576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Think</a:t>
            </a:r>
            <a:endParaRPr lang="en-US" sz="1800" dirty="0"/>
          </a:p>
        </p:txBody>
      </p:sp>
      <p:sp>
        <p:nvSpPr>
          <p:cNvPr id="12" name="Text 8"/>
          <p:cNvSpPr txBox="1"/>
          <p:nvPr/>
        </p:nvSpPr>
        <p:spPr>
          <a:xfrm>
            <a:off x="4480560" y="2286000"/>
            <a:ext cx="3246120" cy="1188720"/>
          </a:xfrm>
          <a:prstGeom prst="rect">
            <a:avLst/>
          </a:prstGeom>
          <a:noFill/>
          <a:ln/>
        </p:spPr>
        <p:txBody>
          <a:bodyPr wrap="square" lIns="0" tIns="0" rIns="0" bIns="0" rtlCol="0" anchor="t"/>
          <a:lstStyle/>
          <a:p>
            <a:pPr marL="0" indent="0">
              <a:buNone/>
            </a:pPr>
            <a:r>
              <a:rPr lang="en-US" sz="1400" dirty="0">
                <a:solidFill>
                  <a:schemeClr val="tx1"/>
                </a:solidFill>
              </a:rPr>
              <a:t>ESP32 DevKit reads every sensor, scores the evidence, logs and sends</a:t>
            </a:r>
            <a:endParaRPr lang="en-US" sz="1400" dirty="0"/>
          </a:p>
        </p:txBody>
      </p:sp>
      <p:sp>
        <p:nvSpPr>
          <p:cNvPr id="13" name="hardware group 3"/>
          <p:cNvSpPr/>
          <p:nvPr/>
        </p:nvSpPr>
        <p:spPr>
          <a:xfrm>
            <a:off x="548640" y="3657600"/>
            <a:ext cx="3611880" cy="1874520"/>
          </a:xfrm>
          <a:prstGeom prst="roundRect">
            <a:avLst>
              <a:gd name="adj" fmla="val 3902"/>
            </a:avLst>
          </a:prstGeom>
          <a:solidFill>
            <a:schemeClr val="bg2"/>
          </a:solidFill>
          <a:ln w="9525">
            <a:solidFill>
              <a:schemeClr val="bg2"/>
            </a:solidFill>
            <a:prstDash val="solid"/>
          </a:ln>
        </p:spPr>
      </p:sp>
      <p:pic>
        <p:nvPicPr>
          <p:cNvPr id="14" name="Image 2" descr="Talk"/>
          <p:cNvPicPr>
            <a:picLocks noChangeAspect="1"/>
          </p:cNvPicPr>
          <p:nvPr/>
        </p:nvPicPr>
        <p:blipFill>
          <a:blip r:embed="rId5"/>
          <a:stretch>
            <a:fillRect/>
          </a:stretch>
        </p:blipFill>
        <p:spPr>
          <a:xfrm>
            <a:off x="731520" y="3840480"/>
            <a:ext cx="329184" cy="329184"/>
          </a:xfrm>
          <a:prstGeom prst="rect">
            <a:avLst/>
          </a:prstGeom>
        </p:spPr>
      </p:pic>
      <p:sp>
        <p:nvSpPr>
          <p:cNvPr id="15" name="Text 10"/>
          <p:cNvSpPr txBox="1"/>
          <p:nvPr/>
        </p:nvSpPr>
        <p:spPr>
          <a:xfrm>
            <a:off x="1188720" y="3822192"/>
            <a:ext cx="2743200" cy="36576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Talk</a:t>
            </a:r>
            <a:endParaRPr lang="en-US" sz="1800" dirty="0"/>
          </a:p>
        </p:txBody>
      </p:sp>
      <p:sp>
        <p:nvSpPr>
          <p:cNvPr id="16" name="Text 11"/>
          <p:cNvSpPr txBox="1"/>
          <p:nvPr/>
        </p:nvSpPr>
        <p:spPr>
          <a:xfrm>
            <a:off x="731520" y="4297680"/>
            <a:ext cx="3246120" cy="1188720"/>
          </a:xfrm>
          <a:prstGeom prst="rect">
            <a:avLst/>
          </a:prstGeom>
          <a:noFill/>
          <a:ln/>
        </p:spPr>
        <p:txBody>
          <a:bodyPr wrap="square" lIns="0" tIns="0" rIns="0" bIns="0" rtlCol="0" anchor="t"/>
          <a:lstStyle/>
          <a:p>
            <a:pPr marL="0" indent="0">
              <a:buNone/>
            </a:pPr>
            <a:r>
              <a:rPr lang="en-US" sz="1400" dirty="0">
                <a:solidFill>
                  <a:schemeClr val="tx1"/>
                </a:solidFill>
              </a:rPr>
              <a:t>SX1262 LoRa radio for range; SIM800L GSM module for SMS where there is no internet</a:t>
            </a:r>
            <a:endParaRPr lang="en-US" sz="1400" dirty="0"/>
          </a:p>
        </p:txBody>
      </p:sp>
      <p:sp>
        <p:nvSpPr>
          <p:cNvPr id="17" name="hardware group 4"/>
          <p:cNvSpPr/>
          <p:nvPr/>
        </p:nvSpPr>
        <p:spPr>
          <a:xfrm>
            <a:off x="4297680" y="3657600"/>
            <a:ext cx="3611880" cy="1874520"/>
          </a:xfrm>
          <a:prstGeom prst="roundRect">
            <a:avLst>
              <a:gd name="adj" fmla="val 3902"/>
            </a:avLst>
          </a:prstGeom>
          <a:solidFill>
            <a:schemeClr val="bg2"/>
          </a:solidFill>
          <a:ln w="9525">
            <a:solidFill>
              <a:schemeClr val="bg2"/>
            </a:solidFill>
            <a:prstDash val="solid"/>
          </a:ln>
        </p:spPr>
      </p:sp>
      <p:pic>
        <p:nvPicPr>
          <p:cNvPr id="18" name="Image 3" descr="Store and power"/>
          <p:cNvPicPr>
            <a:picLocks noChangeAspect="1"/>
          </p:cNvPicPr>
          <p:nvPr/>
        </p:nvPicPr>
        <p:blipFill>
          <a:blip r:embed="rId6"/>
          <a:stretch>
            <a:fillRect/>
          </a:stretch>
        </p:blipFill>
        <p:spPr>
          <a:xfrm>
            <a:off x="4480560" y="3840480"/>
            <a:ext cx="329184" cy="329184"/>
          </a:xfrm>
          <a:prstGeom prst="rect">
            <a:avLst/>
          </a:prstGeom>
        </p:spPr>
      </p:pic>
      <p:sp>
        <p:nvSpPr>
          <p:cNvPr id="19" name="Text 13"/>
          <p:cNvSpPr txBox="1"/>
          <p:nvPr/>
        </p:nvSpPr>
        <p:spPr>
          <a:xfrm>
            <a:off x="4937760" y="3822192"/>
            <a:ext cx="2743200" cy="36576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Store and power</a:t>
            </a:r>
            <a:endParaRPr lang="en-US" sz="1800" dirty="0"/>
          </a:p>
        </p:txBody>
      </p:sp>
      <p:sp>
        <p:nvSpPr>
          <p:cNvPr id="20" name="Text 14"/>
          <p:cNvSpPr txBox="1"/>
          <p:nvPr/>
        </p:nvSpPr>
        <p:spPr>
          <a:xfrm>
            <a:off x="4480560" y="4297680"/>
            <a:ext cx="3246120" cy="1188720"/>
          </a:xfrm>
          <a:prstGeom prst="rect">
            <a:avLst/>
          </a:prstGeom>
          <a:noFill/>
          <a:ln/>
        </p:spPr>
        <p:txBody>
          <a:bodyPr wrap="square" lIns="0" tIns="0" rIns="0" bIns="0" rtlCol="0" anchor="t"/>
          <a:lstStyle/>
          <a:p>
            <a:pPr marL="0" indent="0">
              <a:buNone/>
            </a:pPr>
            <a:r>
              <a:rPr lang="en-US" sz="1400" dirty="0">
                <a:solidFill>
                  <a:schemeClr val="tx1"/>
                </a:solidFill>
              </a:rPr>
              <a:t>SD card keeps a local log; a 40-50 W solar panel and MPPT controller charge a 12 V, 20 Ah LiFePO4 battery</a:t>
            </a:r>
            <a:endParaRPr lang="en-US" sz="1400" dirty="0"/>
          </a:p>
        </p:txBody>
      </p:sp>
      <p:sp>
        <p:nvSpPr>
          <p:cNvPr id="21" name="criteria card"/>
          <p:cNvSpPr/>
          <p:nvPr/>
        </p:nvSpPr>
        <p:spPr>
          <a:xfrm>
            <a:off x="8183880" y="1645920"/>
            <a:ext cx="3456432" cy="3886200"/>
          </a:xfrm>
          <a:prstGeom prst="roundRect">
            <a:avLst>
              <a:gd name="adj" fmla="val 2116"/>
            </a:avLst>
          </a:prstGeom>
          <a:solidFill>
            <a:schemeClr val="accent1"/>
          </a:solidFill>
          <a:ln w="9525">
            <a:solidFill>
              <a:schemeClr val="accent1"/>
            </a:solidFill>
            <a:prstDash val="solid"/>
          </a:ln>
        </p:spPr>
      </p:sp>
      <p:sp>
        <p:nvSpPr>
          <p:cNvPr id="22" name="Text 16"/>
          <p:cNvSpPr txBox="1"/>
          <p:nvPr/>
        </p:nvSpPr>
        <p:spPr>
          <a:xfrm>
            <a:off x="8412480" y="1828800"/>
            <a:ext cx="3017520" cy="365760"/>
          </a:xfrm>
          <a:prstGeom prst="rect">
            <a:avLst/>
          </a:prstGeom>
          <a:noFill/>
          <a:ln/>
        </p:spPr>
        <p:txBody>
          <a:bodyPr wrap="square" lIns="0" tIns="0" rIns="0" bIns="0" rtlCol="0" anchor="t"/>
          <a:lstStyle/>
          <a:p>
            <a:pPr marL="0" indent="0">
              <a:buNone/>
            </a:pPr>
            <a:r>
              <a:rPr lang="en-US" sz="1800" b="1" dirty="0">
                <a:solidFill>
                  <a:schemeClr val="accent2"/>
                </a:solidFill>
                <a:latin typeface="Cambria" pitchFamily="34" charset="0"/>
                <a:ea typeface="Cambria" pitchFamily="34" charset="-122"/>
                <a:cs typeface="Cambria" pitchFamily="34" charset="-120"/>
              </a:rPr>
              <a:t>What we looked for</a:t>
            </a:r>
            <a:endParaRPr lang="en-US" sz="1800" dirty="0"/>
          </a:p>
        </p:txBody>
      </p:sp>
      <p:sp>
        <p:nvSpPr>
          <p:cNvPr id="23" name="Text 17"/>
          <p:cNvSpPr txBox="1"/>
          <p:nvPr/>
        </p:nvSpPr>
        <p:spPr>
          <a:xfrm>
            <a:off x="8412480" y="2331720"/>
            <a:ext cx="3063240" cy="30175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bg1"/>
                </a:solidFill>
              </a:rPr>
              <a:t>Runs AI detection at the edge</a:t>
            </a:r>
            <a:endParaRPr lang="en-US" sz="1600" dirty="0"/>
          </a:p>
          <a:p>
            <a:pPr marL="342900" indent="-342900">
              <a:spcAft>
                <a:spcPts val="1400"/>
              </a:spcAft>
              <a:buSzPct val="100000"/>
              <a:buChar char="•"/>
            </a:pPr>
            <a:r>
              <a:rPr lang="en-US" sz="1600" dirty="0">
                <a:solidFill>
                  <a:schemeClr val="bg1"/>
                </a:solidFill>
              </a:rPr>
              <a:t>Survives weather and rough use</a:t>
            </a:r>
            <a:endParaRPr lang="en-US" sz="1600" dirty="0"/>
          </a:p>
          <a:p>
            <a:pPr marL="342900" indent="-342900">
              <a:spcAft>
                <a:spcPts val="1400"/>
              </a:spcAft>
              <a:buSzPct val="100000"/>
              <a:buChar char="•"/>
            </a:pPr>
            <a:r>
              <a:rPr lang="en-US" sz="1600" dirty="0">
                <a:solidFill>
                  <a:schemeClr val="bg1"/>
                </a:solidFill>
              </a:rPr>
              <a:t>Low power draw, solar friendly</a:t>
            </a:r>
            <a:endParaRPr lang="en-US" sz="1600" dirty="0"/>
          </a:p>
          <a:p>
            <a:pPr marL="342900" indent="-342900">
              <a:spcAft>
                <a:spcPts val="1400"/>
              </a:spcAft>
              <a:buSzPct val="100000"/>
              <a:buChar char="•"/>
            </a:pPr>
            <a:r>
              <a:rPr lang="en-US" sz="1600" dirty="0">
                <a:solidFill>
                  <a:schemeClr val="bg1"/>
                </a:solidFill>
              </a:rPr>
              <a:t>Works in clusters with long range</a:t>
            </a:r>
            <a:endParaRPr lang="en-US" sz="1600" dirty="0"/>
          </a:p>
          <a:p>
            <a:pPr marL="342900" indent="-342900">
              <a:spcAft>
                <a:spcPts val="1400"/>
              </a:spcAft>
              <a:buSzPct val="100000"/>
              <a:buChar char="•"/>
            </a:pPr>
            <a:r>
              <a:rPr lang="en-US" sz="1600" dirty="0">
                <a:solidFill>
                  <a:schemeClr val="bg1"/>
                </a:solidFill>
              </a:rPr>
              <a:t>Parts and libraries that fit together</a:t>
            </a:r>
            <a:endParaRPr lang="en-US" sz="1600" dirty="0"/>
          </a:p>
        </p:txBody>
      </p:sp>
      <p:sp>
        <p:nvSpPr>
          <p:cNvPr id="24" name="result box"/>
          <p:cNvSpPr/>
          <p:nvPr/>
        </p:nvSpPr>
        <p:spPr>
          <a:xfrm>
            <a:off x="548640" y="5806440"/>
            <a:ext cx="11091672" cy="457200"/>
          </a:xfrm>
          <a:prstGeom prst="roundRect">
            <a:avLst>
              <a:gd name="adj" fmla="val 16000"/>
            </a:avLst>
          </a:prstGeom>
          <a:solidFill>
            <a:schemeClr val="bg2"/>
          </a:solidFill>
          <a:ln w="9525">
            <a:solidFill>
              <a:schemeClr val="bg2"/>
            </a:solidFill>
            <a:prstDash val="solid"/>
          </a:ln>
        </p:spPr>
      </p:sp>
      <p:sp>
        <p:nvSpPr>
          <p:cNvPr id="25" name="result"/>
          <p:cNvSpPr txBox="1"/>
          <p:nvPr/>
        </p:nvSpPr>
        <p:spPr>
          <a:xfrm>
            <a:off x="731520" y="5806440"/>
            <a:ext cx="10789920" cy="457200"/>
          </a:xfrm>
          <a:prstGeom prst="rect">
            <a:avLst/>
          </a:prstGeom>
          <a:noFill/>
          <a:ln/>
        </p:spPr>
        <p:txBody>
          <a:bodyPr wrap="square" lIns="0" tIns="0" rIns="0" bIns="0" rtlCol="0" anchor="ctr"/>
          <a:lstStyle/>
          <a:p>
            <a:pPr marL="0" indent="0">
              <a:buNone/>
            </a:pPr>
            <a:r>
              <a:rPr lang="en-US" sz="1400" b="1" dirty="0">
                <a:solidFill>
                  <a:schemeClr val="accent4"/>
                </a:solidFill>
              </a:rPr>
              <a:t>Result:  </a:t>
            </a:r>
            <a:r>
              <a:rPr lang="en-US" sz="1400" dirty="0">
                <a:solidFill>
                  <a:schemeClr val="tx1"/>
                </a:solidFill>
              </a:rPr>
              <a:t>a parts list that covers sensing, decision, radio and power, and fits together.</a:t>
            </a:r>
            <a:endParaRPr lang="en-US" sz="1400" dirty="0"/>
          </a:p>
        </p:txBody>
      </p:sp>
      <p:sp>
        <p:nvSpPr>
          <p:cNvPr id="26"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Circuit and solar power design</a:t>
            </a:r>
            <a:endParaRPr lang="en-US" sz="3400" dirty="0"/>
          </a:p>
        </p:txBody>
      </p:sp>
      <p:sp>
        <p:nvSpPr>
          <p:cNvPr id="3" name="dot"/>
          <p:cNvSpPr/>
          <p:nvPr/>
        </p:nvSpPr>
        <p:spPr>
          <a:xfrm>
            <a:off x="548640" y="1197864"/>
            <a:ext cx="146304" cy="146304"/>
          </a:xfrm>
          <a:prstGeom prst="ellipse">
            <a:avLst/>
          </a:prstGeom>
          <a:solidFill>
            <a:schemeClr val="accent2"/>
          </a:solidFill>
          <a:ln w="12700">
            <a:solidFill>
              <a:schemeClr val="accent2"/>
            </a:solidFill>
            <a:prstDash val="solid"/>
          </a:ln>
        </p:spPr>
      </p:sp>
      <p:sp>
        <p:nvSpPr>
          <p:cNvPr id="4" name="who"/>
          <p:cNvSpPr txBox="1"/>
          <p:nvPr/>
        </p:nvSpPr>
        <p:spPr>
          <a:xfrm>
            <a:off x="804672" y="1143000"/>
            <a:ext cx="10515600" cy="256032"/>
          </a:xfrm>
          <a:prstGeom prst="rect">
            <a:avLst/>
          </a:prstGeom>
          <a:noFill/>
          <a:ln/>
        </p:spPr>
        <p:txBody>
          <a:bodyPr wrap="square" lIns="0" tIns="0" rIns="0" bIns="0" rtlCol="0" anchor="ctr"/>
          <a:lstStyle/>
          <a:p>
            <a:pPr marL="0" indent="0">
              <a:buNone/>
            </a:pPr>
            <a:r>
              <a:rPr lang="en-US" sz="1400" b="1" dirty="0">
                <a:solidFill>
                  <a:schemeClr val="tx2"/>
                </a:solidFill>
              </a:rPr>
              <a:t>Gaurang Yogesh Surte  25070126514</a:t>
            </a:r>
            <a:r>
              <a:rPr lang="en-US" sz="1400" dirty="0">
                <a:solidFill>
                  <a:schemeClr val="accent6"/>
                </a:solidFill>
              </a:rPr>
              <a:t>      Individual work 2 of 3      Weeks 11-13   (26 Sep - 10 Oct)</a:t>
            </a:r>
            <a:endParaRPr lang="en-US" sz="1400" dirty="0"/>
          </a:p>
        </p:txBody>
      </p:sp>
      <p:pic>
        <p:nvPicPr>
          <p:cNvPr id="5" name="Image 0" descr="Simulated wiring of the field node"/>
          <p:cNvPicPr>
            <a:picLocks noChangeAspect="1"/>
          </p:cNvPicPr>
          <p:nvPr/>
        </p:nvPicPr>
        <p:blipFill>
          <a:blip r:embed="rId3"/>
          <a:stretch>
            <a:fillRect/>
          </a:stretch>
        </p:blipFill>
        <p:spPr>
          <a:xfrm>
            <a:off x="548640" y="1600200"/>
            <a:ext cx="5260387" cy="3886200"/>
          </a:xfrm>
          <a:prstGeom prst="rect">
            <a:avLst/>
          </a:prstGeom>
        </p:spPr>
      </p:pic>
      <p:sp>
        <p:nvSpPr>
          <p:cNvPr id="6" name="Text 3"/>
          <p:cNvSpPr txBox="1"/>
          <p:nvPr/>
        </p:nvSpPr>
        <p:spPr>
          <a:xfrm>
            <a:off x="548640" y="5532120"/>
            <a:ext cx="5260387" cy="228600"/>
          </a:xfrm>
          <a:prstGeom prst="rect">
            <a:avLst/>
          </a:prstGeom>
          <a:noFill/>
          <a:ln/>
        </p:spPr>
        <p:txBody>
          <a:bodyPr wrap="square" lIns="0" tIns="0" rIns="0" bIns="0" rtlCol="0" anchor="t"/>
          <a:lstStyle/>
          <a:p>
            <a:pPr marL="0" indent="0">
              <a:buNone/>
            </a:pPr>
            <a:r>
              <a:rPr lang="en-US" sz="1100" i="1" dirty="0">
                <a:solidFill>
                  <a:schemeClr val="accent6"/>
                </a:solidFill>
              </a:rPr>
              <a:t>Circuit diagram of the node in the Wokwi simulator</a:t>
            </a:r>
            <a:endParaRPr lang="en-US" sz="1100" dirty="0"/>
          </a:p>
        </p:txBody>
      </p:sp>
      <p:sp>
        <p:nvSpPr>
          <p:cNvPr id="7" name="Text 4"/>
          <p:cNvSpPr txBox="1"/>
          <p:nvPr/>
        </p:nvSpPr>
        <p:spPr>
          <a:xfrm>
            <a:off x="6217920" y="1600200"/>
            <a:ext cx="5394960" cy="27432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ESP32 at the centre, every module wired to it</a:t>
            </a:r>
            <a:endParaRPr lang="en-US" sz="1600" dirty="0"/>
          </a:p>
          <a:p>
            <a:pPr marL="342900" indent="-342900">
              <a:spcAft>
                <a:spcPts val="900"/>
              </a:spcAft>
              <a:buSzPct val="100000"/>
              <a:buChar char="•"/>
            </a:pPr>
            <a:r>
              <a:rPr lang="en-US" sz="1600" dirty="0">
                <a:solidFill>
                  <a:schemeClr val="tx1"/>
                </a:solidFill>
              </a:rPr>
              <a:t>Pin map worked out for each sensor and radio</a:t>
            </a:r>
            <a:endParaRPr lang="en-US" sz="1600" dirty="0"/>
          </a:p>
          <a:p>
            <a:pPr marL="342900" indent="-342900">
              <a:spcAft>
                <a:spcPts val="900"/>
              </a:spcAft>
              <a:buSzPct val="100000"/>
              <a:buChar char="•"/>
            </a:pPr>
            <a:r>
              <a:rPr lang="en-US" sz="1600" dirty="0">
                <a:solidFill>
                  <a:schemeClr val="tx1"/>
                </a:solidFill>
              </a:rPr>
              <a:t>Solar panel and MPPT controller feed the battery</a:t>
            </a:r>
            <a:endParaRPr lang="en-US" sz="1600" dirty="0"/>
          </a:p>
          <a:p>
            <a:pPr marL="342900" indent="-342900">
              <a:spcAft>
                <a:spcPts val="900"/>
              </a:spcAft>
              <a:buSzPct val="100000"/>
              <a:buChar char="•"/>
            </a:pPr>
            <a:r>
              <a:rPr lang="en-US" sz="1600" dirty="0">
                <a:solidFill>
                  <a:schemeClr val="tx1"/>
                </a:solidFill>
              </a:rPr>
              <a:t>Proved online first, to be built physically later</a:t>
            </a:r>
            <a:endParaRPr lang="en-US" sz="1600" dirty="0"/>
          </a:p>
          <a:p>
            <a:pPr marL="342900" indent="-342900">
              <a:spcAft>
                <a:spcPts val="900"/>
              </a:spcAft>
              <a:buSzPct val="100000"/>
              <a:buChar char="•"/>
            </a:pPr>
            <a:r>
              <a:rPr lang="en-US" sz="1600" dirty="0">
                <a:solidFill>
                  <a:schemeClr val="tx1"/>
                </a:solidFill>
              </a:rPr>
              <a:t>Week-13 review by an electrical engineer</a:t>
            </a:r>
            <a:endParaRPr lang="en-US" sz="1600" dirty="0"/>
          </a:p>
        </p:txBody>
      </p:sp>
      <p:sp>
        <p:nvSpPr>
          <p:cNvPr id="8" name="power step 1"/>
          <p:cNvSpPr/>
          <p:nvPr/>
        </p:nvSpPr>
        <p:spPr>
          <a:xfrm>
            <a:off x="6217920" y="4526280"/>
            <a:ext cx="1143000" cy="502920"/>
          </a:xfrm>
          <a:prstGeom prst="roundRect">
            <a:avLst>
              <a:gd name="adj" fmla="val 12727"/>
            </a:avLst>
          </a:prstGeom>
          <a:solidFill>
            <a:schemeClr val="accent1"/>
          </a:solidFill>
          <a:ln w="12700">
            <a:solidFill>
              <a:schemeClr val="bg1"/>
            </a:solidFill>
            <a:prstDash val="solid"/>
          </a:ln>
        </p:spPr>
      </p:sp>
      <p:sp>
        <p:nvSpPr>
          <p:cNvPr id="9" name="Text 6"/>
          <p:cNvSpPr txBox="1"/>
          <p:nvPr/>
        </p:nvSpPr>
        <p:spPr>
          <a:xfrm>
            <a:off x="6217920" y="4526280"/>
            <a:ext cx="1143000" cy="502920"/>
          </a:xfrm>
          <a:prstGeom prst="rect">
            <a:avLst/>
          </a:prstGeom>
          <a:noFill/>
          <a:ln/>
        </p:spPr>
        <p:txBody>
          <a:bodyPr wrap="square" lIns="0" tIns="0" rIns="0" bIns="0" rtlCol="0" anchor="ctr"/>
          <a:lstStyle/>
          <a:p>
            <a:pPr marL="0" indent="0" algn="ctr">
              <a:buNone/>
            </a:pPr>
            <a:r>
              <a:rPr lang="en-US" sz="1300" b="1" dirty="0">
                <a:solidFill>
                  <a:schemeClr val="bg1"/>
                </a:solidFill>
              </a:rPr>
              <a:t>Solar</a:t>
            </a:r>
            <a:endParaRPr lang="en-US" sz="1300" dirty="0"/>
          </a:p>
        </p:txBody>
      </p:sp>
      <p:sp>
        <p:nvSpPr>
          <p:cNvPr id="10" name="power arrow"/>
          <p:cNvSpPr/>
          <p:nvPr/>
        </p:nvSpPr>
        <p:spPr>
          <a:xfrm>
            <a:off x="7360920" y="4777740"/>
            <a:ext cx="228600" cy="0"/>
          </a:xfrm>
          <a:prstGeom prst="line">
            <a:avLst/>
          </a:prstGeom>
          <a:noFill/>
          <a:ln w="19050">
            <a:solidFill>
              <a:schemeClr val="accent6"/>
            </a:solidFill>
            <a:prstDash val="solid"/>
            <a:tailEnd type="triangle"/>
          </a:ln>
        </p:spPr>
      </p:sp>
      <p:sp>
        <p:nvSpPr>
          <p:cNvPr id="11" name="power step 2"/>
          <p:cNvSpPr/>
          <p:nvPr/>
        </p:nvSpPr>
        <p:spPr>
          <a:xfrm>
            <a:off x="7589520" y="4526280"/>
            <a:ext cx="1143000" cy="502920"/>
          </a:xfrm>
          <a:prstGeom prst="roundRect">
            <a:avLst>
              <a:gd name="adj" fmla="val 12727"/>
            </a:avLst>
          </a:prstGeom>
          <a:solidFill>
            <a:schemeClr val="accent1"/>
          </a:solidFill>
          <a:ln w="12700">
            <a:solidFill>
              <a:schemeClr val="bg1"/>
            </a:solidFill>
            <a:prstDash val="solid"/>
          </a:ln>
        </p:spPr>
      </p:sp>
      <p:sp>
        <p:nvSpPr>
          <p:cNvPr id="12" name="Text 9"/>
          <p:cNvSpPr txBox="1"/>
          <p:nvPr/>
        </p:nvSpPr>
        <p:spPr>
          <a:xfrm>
            <a:off x="7589520" y="4526280"/>
            <a:ext cx="1143000" cy="502920"/>
          </a:xfrm>
          <a:prstGeom prst="rect">
            <a:avLst/>
          </a:prstGeom>
          <a:noFill/>
          <a:ln/>
        </p:spPr>
        <p:txBody>
          <a:bodyPr wrap="square" lIns="0" tIns="0" rIns="0" bIns="0" rtlCol="0" anchor="ctr"/>
          <a:lstStyle/>
          <a:p>
            <a:pPr marL="0" indent="0" algn="ctr">
              <a:buNone/>
            </a:pPr>
            <a:r>
              <a:rPr lang="en-US" sz="1300" b="1" dirty="0">
                <a:solidFill>
                  <a:schemeClr val="bg1"/>
                </a:solidFill>
              </a:rPr>
              <a:t>MPPT</a:t>
            </a:r>
            <a:endParaRPr lang="en-US" sz="1300" dirty="0"/>
          </a:p>
        </p:txBody>
      </p:sp>
      <p:sp>
        <p:nvSpPr>
          <p:cNvPr id="13" name="power arrow"/>
          <p:cNvSpPr/>
          <p:nvPr/>
        </p:nvSpPr>
        <p:spPr>
          <a:xfrm>
            <a:off x="8732520" y="4777740"/>
            <a:ext cx="228600" cy="0"/>
          </a:xfrm>
          <a:prstGeom prst="line">
            <a:avLst/>
          </a:prstGeom>
          <a:noFill/>
          <a:ln w="19050">
            <a:solidFill>
              <a:schemeClr val="accent6"/>
            </a:solidFill>
            <a:prstDash val="solid"/>
            <a:tailEnd type="triangle"/>
          </a:ln>
        </p:spPr>
      </p:sp>
      <p:sp>
        <p:nvSpPr>
          <p:cNvPr id="14" name="power step 3"/>
          <p:cNvSpPr/>
          <p:nvPr/>
        </p:nvSpPr>
        <p:spPr>
          <a:xfrm>
            <a:off x="8961120" y="4526280"/>
            <a:ext cx="1143000" cy="502920"/>
          </a:xfrm>
          <a:prstGeom prst="roundRect">
            <a:avLst>
              <a:gd name="adj" fmla="val 12727"/>
            </a:avLst>
          </a:prstGeom>
          <a:solidFill>
            <a:schemeClr val="accent1"/>
          </a:solidFill>
          <a:ln w="12700">
            <a:solidFill>
              <a:schemeClr val="bg1"/>
            </a:solidFill>
            <a:prstDash val="solid"/>
          </a:ln>
        </p:spPr>
      </p:sp>
      <p:sp>
        <p:nvSpPr>
          <p:cNvPr id="15" name="Text 12"/>
          <p:cNvSpPr txBox="1"/>
          <p:nvPr/>
        </p:nvSpPr>
        <p:spPr>
          <a:xfrm>
            <a:off x="8961120" y="4526280"/>
            <a:ext cx="1143000" cy="502920"/>
          </a:xfrm>
          <a:prstGeom prst="rect">
            <a:avLst/>
          </a:prstGeom>
          <a:noFill/>
          <a:ln/>
        </p:spPr>
        <p:txBody>
          <a:bodyPr wrap="square" lIns="0" tIns="0" rIns="0" bIns="0" rtlCol="0" anchor="ctr"/>
          <a:lstStyle/>
          <a:p>
            <a:pPr marL="0" indent="0" algn="ctr">
              <a:buNone/>
            </a:pPr>
            <a:r>
              <a:rPr lang="en-US" sz="1300" b="1" dirty="0">
                <a:solidFill>
                  <a:schemeClr val="bg1"/>
                </a:solidFill>
              </a:rPr>
              <a:t>LiFePO4</a:t>
            </a:r>
            <a:endParaRPr lang="en-US" sz="1300" dirty="0"/>
          </a:p>
        </p:txBody>
      </p:sp>
      <p:sp>
        <p:nvSpPr>
          <p:cNvPr id="16" name="power arrow"/>
          <p:cNvSpPr/>
          <p:nvPr/>
        </p:nvSpPr>
        <p:spPr>
          <a:xfrm>
            <a:off x="10104120" y="4777740"/>
            <a:ext cx="228600" cy="0"/>
          </a:xfrm>
          <a:prstGeom prst="line">
            <a:avLst/>
          </a:prstGeom>
          <a:noFill/>
          <a:ln w="19050">
            <a:solidFill>
              <a:schemeClr val="accent6"/>
            </a:solidFill>
            <a:prstDash val="solid"/>
            <a:tailEnd type="triangle"/>
          </a:ln>
        </p:spPr>
      </p:sp>
      <p:sp>
        <p:nvSpPr>
          <p:cNvPr id="17" name="power step 4"/>
          <p:cNvSpPr/>
          <p:nvPr/>
        </p:nvSpPr>
        <p:spPr>
          <a:xfrm>
            <a:off x="10332720" y="4526280"/>
            <a:ext cx="1143000" cy="502920"/>
          </a:xfrm>
          <a:prstGeom prst="roundRect">
            <a:avLst>
              <a:gd name="adj" fmla="val 12727"/>
            </a:avLst>
          </a:prstGeom>
          <a:solidFill>
            <a:schemeClr val="accent2"/>
          </a:solidFill>
          <a:ln w="12700">
            <a:solidFill>
              <a:schemeClr val="bg1"/>
            </a:solidFill>
            <a:prstDash val="solid"/>
          </a:ln>
        </p:spPr>
      </p:sp>
      <p:sp>
        <p:nvSpPr>
          <p:cNvPr id="18" name="Text 15"/>
          <p:cNvSpPr txBox="1"/>
          <p:nvPr/>
        </p:nvSpPr>
        <p:spPr>
          <a:xfrm>
            <a:off x="10332720" y="4526280"/>
            <a:ext cx="1143000" cy="502920"/>
          </a:xfrm>
          <a:prstGeom prst="rect">
            <a:avLst/>
          </a:prstGeom>
          <a:noFill/>
          <a:ln/>
        </p:spPr>
        <p:txBody>
          <a:bodyPr wrap="square" lIns="0" tIns="0" rIns="0" bIns="0" rtlCol="0" anchor="ctr"/>
          <a:lstStyle/>
          <a:p>
            <a:pPr marL="0" indent="0" algn="ctr">
              <a:buNone/>
            </a:pPr>
            <a:r>
              <a:rPr lang="en-US" sz="1300" b="1" dirty="0">
                <a:solidFill>
                  <a:schemeClr val="tx1"/>
                </a:solidFill>
              </a:rPr>
              <a:t>Node</a:t>
            </a:r>
            <a:endParaRPr lang="en-US" sz="1300" dirty="0"/>
          </a:p>
        </p:txBody>
      </p:sp>
      <p:sp>
        <p:nvSpPr>
          <p:cNvPr id="19" name="Text 16"/>
          <p:cNvSpPr txBox="1"/>
          <p:nvPr/>
        </p:nvSpPr>
        <p:spPr>
          <a:xfrm>
            <a:off x="6217920" y="5102352"/>
            <a:ext cx="5394960" cy="274320"/>
          </a:xfrm>
          <a:prstGeom prst="rect">
            <a:avLst/>
          </a:prstGeom>
          <a:noFill/>
          <a:ln/>
        </p:spPr>
        <p:txBody>
          <a:bodyPr wrap="square" lIns="0" tIns="0" rIns="0" bIns="0" rtlCol="0" anchor="t"/>
          <a:lstStyle/>
          <a:p>
            <a:pPr marL="0" indent="0">
              <a:buNone/>
            </a:pPr>
            <a:r>
              <a:rPr lang="en-US" sz="1100" i="1" dirty="0">
                <a:solidFill>
                  <a:schemeClr val="accent6"/>
                </a:solidFill>
              </a:rPr>
              <a:t>Power chain that lets the node run without mains supply</a:t>
            </a:r>
            <a:endParaRPr lang="en-US" sz="1100" dirty="0"/>
          </a:p>
        </p:txBody>
      </p:sp>
      <p:sp>
        <p:nvSpPr>
          <p:cNvPr id="20" name="result box"/>
          <p:cNvSpPr/>
          <p:nvPr/>
        </p:nvSpPr>
        <p:spPr>
          <a:xfrm>
            <a:off x="548640" y="5806440"/>
            <a:ext cx="11091672" cy="457200"/>
          </a:xfrm>
          <a:prstGeom prst="roundRect">
            <a:avLst>
              <a:gd name="adj" fmla="val 16000"/>
            </a:avLst>
          </a:prstGeom>
          <a:solidFill>
            <a:schemeClr val="bg2"/>
          </a:solidFill>
          <a:ln w="9525">
            <a:solidFill>
              <a:schemeClr val="bg2"/>
            </a:solidFill>
            <a:prstDash val="solid"/>
          </a:ln>
        </p:spPr>
      </p:sp>
      <p:sp>
        <p:nvSpPr>
          <p:cNvPr id="21" name="result"/>
          <p:cNvSpPr txBox="1"/>
          <p:nvPr/>
        </p:nvSpPr>
        <p:spPr>
          <a:xfrm>
            <a:off x="731520" y="5806440"/>
            <a:ext cx="10789920" cy="457200"/>
          </a:xfrm>
          <a:prstGeom prst="rect">
            <a:avLst/>
          </a:prstGeom>
          <a:noFill/>
          <a:ln/>
        </p:spPr>
        <p:txBody>
          <a:bodyPr wrap="square" lIns="0" tIns="0" rIns="0" bIns="0" rtlCol="0" anchor="ctr"/>
          <a:lstStyle/>
          <a:p>
            <a:pPr marL="0" indent="0">
              <a:buNone/>
            </a:pPr>
            <a:r>
              <a:rPr lang="en-US" sz="1400" b="1" dirty="0">
                <a:solidFill>
                  <a:schemeClr val="accent4"/>
                </a:solidFill>
              </a:rPr>
              <a:t>Result:  </a:t>
            </a:r>
            <a:r>
              <a:rPr lang="en-US" sz="1400" dirty="0">
                <a:solidFill>
                  <a:schemeClr val="tx1"/>
                </a:solidFill>
              </a:rPr>
              <a:t>a complete, reviewed wiring and power plan for the field node.</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Firmware and the fusion score</a:t>
            </a:r>
            <a:endParaRPr lang="en-US" sz="3400" dirty="0"/>
          </a:p>
        </p:txBody>
      </p:sp>
      <p:sp>
        <p:nvSpPr>
          <p:cNvPr id="3" name="dot"/>
          <p:cNvSpPr/>
          <p:nvPr/>
        </p:nvSpPr>
        <p:spPr>
          <a:xfrm>
            <a:off x="548640" y="1197864"/>
            <a:ext cx="146304" cy="146304"/>
          </a:xfrm>
          <a:prstGeom prst="ellipse">
            <a:avLst/>
          </a:prstGeom>
          <a:solidFill>
            <a:schemeClr val="accent2"/>
          </a:solidFill>
          <a:ln w="12700">
            <a:solidFill>
              <a:schemeClr val="accent2"/>
            </a:solidFill>
            <a:prstDash val="solid"/>
          </a:ln>
        </p:spPr>
      </p:sp>
      <p:sp>
        <p:nvSpPr>
          <p:cNvPr id="4" name="who"/>
          <p:cNvSpPr txBox="1"/>
          <p:nvPr/>
        </p:nvSpPr>
        <p:spPr>
          <a:xfrm>
            <a:off x="804672" y="1143000"/>
            <a:ext cx="10515600" cy="256032"/>
          </a:xfrm>
          <a:prstGeom prst="rect">
            <a:avLst/>
          </a:prstGeom>
          <a:noFill/>
          <a:ln/>
        </p:spPr>
        <p:txBody>
          <a:bodyPr wrap="square" lIns="0" tIns="0" rIns="0" bIns="0" rtlCol="0" anchor="ctr"/>
          <a:lstStyle/>
          <a:p>
            <a:r>
              <a:rPr lang="en-US" sz="1400" b="1" dirty="0">
                <a:solidFill>
                  <a:schemeClr val="tx2"/>
                </a:solidFill>
              </a:rPr>
              <a:t>Gaurang Yogesh </a:t>
            </a:r>
            <a:r>
              <a:rPr lang="en-US" sz="1400" b="1" dirty="0" err="1">
                <a:solidFill>
                  <a:schemeClr val="tx2"/>
                </a:solidFill>
              </a:rPr>
              <a:t>Surte</a:t>
            </a:r>
            <a:r>
              <a:rPr lang="en-US" sz="1400" b="1" dirty="0">
                <a:solidFill>
                  <a:schemeClr val="tx2"/>
                </a:solidFill>
              </a:rPr>
              <a:t>  25070126514, Aditya Shelar 24070126019</a:t>
            </a:r>
            <a:r>
              <a:rPr lang="en-US" sz="1400" dirty="0">
                <a:solidFill>
                  <a:schemeClr val="accent6"/>
                </a:solidFill>
              </a:rPr>
              <a:t>      Individual work 3 of 3      Weeks 12-14   (3 - 17 Oct)</a:t>
            </a:r>
          </a:p>
        </p:txBody>
      </p:sp>
      <p:sp>
        <p:nvSpPr>
          <p:cNvPr id="5" name="step badge 1"/>
          <p:cNvSpPr/>
          <p:nvPr/>
        </p:nvSpPr>
        <p:spPr>
          <a:xfrm>
            <a:off x="548640" y="1755648"/>
            <a:ext cx="502920" cy="502920"/>
          </a:xfrm>
          <a:prstGeom prst="ellipse">
            <a:avLst/>
          </a:prstGeom>
          <a:solidFill>
            <a:schemeClr val="accent1"/>
          </a:solidFill>
          <a:ln w="12700">
            <a:solidFill>
              <a:schemeClr val="accent1"/>
            </a:solidFill>
            <a:prstDash val="solid"/>
          </a:ln>
        </p:spPr>
      </p:sp>
      <p:sp>
        <p:nvSpPr>
          <p:cNvPr id="6" name="Text 4"/>
          <p:cNvSpPr txBox="1"/>
          <p:nvPr/>
        </p:nvSpPr>
        <p:spPr>
          <a:xfrm>
            <a:off x="548640" y="175564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5"/>
          <p:cNvSpPr txBox="1"/>
          <p:nvPr/>
        </p:nvSpPr>
        <p:spPr>
          <a:xfrm>
            <a:off x="1234440" y="1664208"/>
            <a:ext cx="3474720" cy="274320"/>
          </a:xfrm>
          <a:prstGeom prst="rect">
            <a:avLst/>
          </a:prstGeom>
          <a:noFill/>
          <a:ln/>
        </p:spPr>
        <p:txBody>
          <a:bodyPr wrap="square" lIns="0" tIns="0" rIns="0" bIns="0" rtlCol="0" anchor="t"/>
          <a:lstStyle/>
          <a:p>
            <a:pPr marL="0" indent="0">
              <a:buNone/>
            </a:pPr>
            <a:r>
              <a:rPr lang="en-US" sz="1600" b="1" dirty="0">
                <a:solidFill>
                  <a:schemeClr val="tx2"/>
                </a:solidFill>
              </a:rPr>
              <a:t>Read</a:t>
            </a:r>
            <a:endParaRPr lang="en-US" sz="1600" dirty="0"/>
          </a:p>
        </p:txBody>
      </p:sp>
      <p:sp>
        <p:nvSpPr>
          <p:cNvPr id="8" name="Text 6"/>
          <p:cNvSpPr txBox="1"/>
          <p:nvPr/>
        </p:nvSpPr>
        <p:spPr>
          <a:xfrm>
            <a:off x="1234440" y="1956816"/>
            <a:ext cx="3566160" cy="594360"/>
          </a:xfrm>
          <a:prstGeom prst="rect">
            <a:avLst/>
          </a:prstGeom>
          <a:noFill/>
          <a:ln/>
        </p:spPr>
        <p:txBody>
          <a:bodyPr wrap="square" lIns="0" tIns="0" rIns="0" bIns="0" rtlCol="0" anchor="t"/>
          <a:lstStyle/>
          <a:p>
            <a:pPr marL="0" indent="0">
              <a:buNone/>
            </a:pPr>
            <a:r>
              <a:rPr lang="en-US" sz="1300" dirty="0">
                <a:solidFill>
                  <a:schemeClr val="tx1"/>
                </a:solidFill>
              </a:rPr>
              <a:t>Vision result, ground vibration in Hz and mg, sound level in dB</a:t>
            </a:r>
            <a:endParaRPr lang="en-US" sz="1300" dirty="0"/>
          </a:p>
        </p:txBody>
      </p:sp>
      <p:sp>
        <p:nvSpPr>
          <p:cNvPr id="9" name="step badge 2"/>
          <p:cNvSpPr/>
          <p:nvPr/>
        </p:nvSpPr>
        <p:spPr>
          <a:xfrm>
            <a:off x="548640" y="274320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548640" y="274320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1234440" y="2651760"/>
            <a:ext cx="3474720" cy="274320"/>
          </a:xfrm>
          <a:prstGeom prst="rect">
            <a:avLst/>
          </a:prstGeom>
          <a:noFill/>
          <a:ln/>
        </p:spPr>
        <p:txBody>
          <a:bodyPr wrap="square" lIns="0" tIns="0" rIns="0" bIns="0" rtlCol="0" anchor="t"/>
          <a:lstStyle/>
          <a:p>
            <a:pPr marL="0" indent="0">
              <a:buNone/>
            </a:pPr>
            <a:r>
              <a:rPr lang="en-US" sz="1600" b="1" dirty="0">
                <a:solidFill>
                  <a:schemeClr val="tx2"/>
                </a:solidFill>
              </a:rPr>
              <a:t>Score</a:t>
            </a:r>
            <a:endParaRPr lang="en-US" sz="1600" dirty="0"/>
          </a:p>
        </p:txBody>
      </p:sp>
      <p:sp>
        <p:nvSpPr>
          <p:cNvPr id="12" name="Text 10"/>
          <p:cNvSpPr txBox="1"/>
          <p:nvPr/>
        </p:nvSpPr>
        <p:spPr>
          <a:xfrm>
            <a:off x="1234440" y="2944368"/>
            <a:ext cx="3566160" cy="594360"/>
          </a:xfrm>
          <a:prstGeom prst="rect">
            <a:avLst/>
          </a:prstGeom>
          <a:noFill/>
          <a:ln/>
        </p:spPr>
        <p:txBody>
          <a:bodyPr wrap="square" lIns="0" tIns="0" rIns="0" bIns="0" rtlCol="0" anchor="t"/>
          <a:lstStyle/>
          <a:p>
            <a:pPr marL="0" indent="0">
              <a:buNone/>
            </a:pPr>
            <a:r>
              <a:rPr lang="en-US" sz="1300" dirty="0">
                <a:solidFill>
                  <a:schemeClr val="tx1"/>
                </a:solidFill>
              </a:rPr>
              <a:t>Animal type, confidence, distance, light, infrared, fog and obstruction each add to the score</a:t>
            </a:r>
            <a:endParaRPr lang="en-US" sz="1300" dirty="0"/>
          </a:p>
        </p:txBody>
      </p:sp>
      <p:sp>
        <p:nvSpPr>
          <p:cNvPr id="13" name="step badge 3"/>
          <p:cNvSpPr/>
          <p:nvPr/>
        </p:nvSpPr>
        <p:spPr>
          <a:xfrm>
            <a:off x="548640" y="3730752"/>
            <a:ext cx="502920" cy="502920"/>
          </a:xfrm>
          <a:prstGeom prst="ellipse">
            <a:avLst/>
          </a:prstGeom>
          <a:solidFill>
            <a:schemeClr val="accent1"/>
          </a:solidFill>
          <a:ln w="12700">
            <a:solidFill>
              <a:schemeClr val="accent1"/>
            </a:solidFill>
            <a:prstDash val="solid"/>
          </a:ln>
        </p:spPr>
      </p:sp>
      <p:sp>
        <p:nvSpPr>
          <p:cNvPr id="14" name="Text 12"/>
          <p:cNvSpPr txBox="1"/>
          <p:nvPr/>
        </p:nvSpPr>
        <p:spPr>
          <a:xfrm>
            <a:off x="548640" y="3730752"/>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3"/>
          <p:cNvSpPr txBox="1"/>
          <p:nvPr/>
        </p:nvSpPr>
        <p:spPr>
          <a:xfrm>
            <a:off x="1234440" y="3639312"/>
            <a:ext cx="3474720" cy="274320"/>
          </a:xfrm>
          <a:prstGeom prst="rect">
            <a:avLst/>
          </a:prstGeom>
          <a:noFill/>
          <a:ln/>
        </p:spPr>
        <p:txBody>
          <a:bodyPr wrap="square" lIns="0" tIns="0" rIns="0" bIns="0" rtlCol="0" anchor="t"/>
          <a:lstStyle/>
          <a:p>
            <a:pPr marL="0" indent="0">
              <a:buNone/>
            </a:pPr>
            <a:r>
              <a:rPr lang="en-US" sz="1600" b="1" dirty="0">
                <a:solidFill>
                  <a:schemeClr val="tx2"/>
                </a:solidFill>
              </a:rPr>
              <a:t>Combine</a:t>
            </a:r>
            <a:endParaRPr lang="en-US" sz="1600" dirty="0"/>
          </a:p>
        </p:txBody>
      </p:sp>
      <p:sp>
        <p:nvSpPr>
          <p:cNvPr id="16" name="Text 14"/>
          <p:cNvSpPr txBox="1"/>
          <p:nvPr/>
        </p:nvSpPr>
        <p:spPr>
          <a:xfrm>
            <a:off x="1234440" y="3931920"/>
            <a:ext cx="3566160" cy="594360"/>
          </a:xfrm>
          <a:prstGeom prst="rect">
            <a:avLst/>
          </a:prstGeom>
          <a:noFill/>
          <a:ln/>
        </p:spPr>
        <p:txBody>
          <a:bodyPr wrap="square" lIns="0" tIns="0" rIns="0" bIns="0" rtlCol="0" anchor="t"/>
          <a:lstStyle/>
          <a:p>
            <a:pPr marL="0" indent="0">
              <a:buNone/>
            </a:pPr>
            <a:r>
              <a:rPr lang="en-US" sz="1300" dirty="0">
                <a:solidFill>
                  <a:schemeClr val="tx1"/>
                </a:solidFill>
              </a:rPr>
              <a:t>One total score decides whether an alert message is built</a:t>
            </a:r>
            <a:endParaRPr lang="en-US" sz="1300" dirty="0"/>
          </a:p>
        </p:txBody>
      </p:sp>
      <p:sp>
        <p:nvSpPr>
          <p:cNvPr id="17" name="step badge 4"/>
          <p:cNvSpPr/>
          <p:nvPr/>
        </p:nvSpPr>
        <p:spPr>
          <a:xfrm>
            <a:off x="548640" y="4718304"/>
            <a:ext cx="502920" cy="502920"/>
          </a:xfrm>
          <a:prstGeom prst="ellipse">
            <a:avLst/>
          </a:prstGeom>
          <a:solidFill>
            <a:schemeClr val="accent1"/>
          </a:solidFill>
          <a:ln w="12700">
            <a:solidFill>
              <a:schemeClr val="accent1"/>
            </a:solidFill>
            <a:prstDash val="solid"/>
          </a:ln>
        </p:spPr>
      </p:sp>
      <p:sp>
        <p:nvSpPr>
          <p:cNvPr id="18" name="Text 16"/>
          <p:cNvSpPr txBox="1"/>
          <p:nvPr/>
        </p:nvSpPr>
        <p:spPr>
          <a:xfrm>
            <a:off x="548640" y="4718304"/>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7"/>
          <p:cNvSpPr txBox="1"/>
          <p:nvPr/>
        </p:nvSpPr>
        <p:spPr>
          <a:xfrm>
            <a:off x="1234440" y="4626864"/>
            <a:ext cx="3474720" cy="274320"/>
          </a:xfrm>
          <a:prstGeom prst="rect">
            <a:avLst/>
          </a:prstGeom>
          <a:noFill/>
          <a:ln/>
        </p:spPr>
        <p:txBody>
          <a:bodyPr wrap="square" lIns="0" tIns="0" rIns="0" bIns="0" rtlCol="0" anchor="t"/>
          <a:lstStyle/>
          <a:p>
            <a:pPr marL="0" indent="0">
              <a:buNone/>
            </a:pPr>
            <a:r>
              <a:rPr lang="en-US" sz="1600" b="1" dirty="0">
                <a:solidFill>
                  <a:schemeClr val="tx2"/>
                </a:solidFill>
              </a:rPr>
              <a:t>Act</a:t>
            </a:r>
            <a:endParaRPr lang="en-US" sz="1600" dirty="0"/>
          </a:p>
        </p:txBody>
      </p:sp>
      <p:sp>
        <p:nvSpPr>
          <p:cNvPr id="20" name="Text 18"/>
          <p:cNvSpPr txBox="1"/>
          <p:nvPr/>
        </p:nvSpPr>
        <p:spPr>
          <a:xfrm>
            <a:off x="1234440" y="4919472"/>
            <a:ext cx="3566160" cy="594360"/>
          </a:xfrm>
          <a:prstGeom prst="rect">
            <a:avLst/>
          </a:prstGeom>
          <a:noFill/>
          <a:ln/>
        </p:spPr>
        <p:txBody>
          <a:bodyPr wrap="square" lIns="0" tIns="0" rIns="0" bIns="0" rtlCol="0" anchor="t"/>
          <a:lstStyle/>
          <a:p>
            <a:pPr marL="0" indent="0">
              <a:buNone/>
            </a:pPr>
            <a:r>
              <a:rPr lang="en-US" sz="1300" dirty="0">
                <a:solidFill>
                  <a:schemeClr val="tx1"/>
                </a:solidFill>
              </a:rPr>
              <a:t>Log to SD card, then send by LoRa or SMS</a:t>
            </a:r>
            <a:endParaRPr lang="en-US" sz="1300" dirty="0"/>
          </a:p>
        </p:txBody>
      </p:sp>
      <p:pic>
        <p:nvPicPr>
          <p:cNvPr id="21" name="Image 0" descr="Wokwi serial monitor showing boot check, FUSE and STATUS lines"/>
          <p:cNvPicPr>
            <a:picLocks noChangeAspect="1"/>
          </p:cNvPicPr>
          <p:nvPr/>
        </p:nvPicPr>
        <p:blipFill>
          <a:blip r:embed="rId3"/>
          <a:stretch>
            <a:fillRect/>
          </a:stretch>
        </p:blipFill>
        <p:spPr>
          <a:xfrm>
            <a:off x="5056632" y="1645920"/>
            <a:ext cx="6583680" cy="3041941"/>
          </a:xfrm>
          <a:prstGeom prst="rect">
            <a:avLst/>
          </a:prstGeom>
        </p:spPr>
      </p:pic>
      <p:sp>
        <p:nvSpPr>
          <p:cNvPr id="22" name="Text 19"/>
          <p:cNvSpPr txBox="1"/>
          <p:nvPr/>
        </p:nvSpPr>
        <p:spPr>
          <a:xfrm>
            <a:off x="5056632" y="4761013"/>
            <a:ext cx="6583680" cy="274320"/>
          </a:xfrm>
          <a:prstGeom prst="rect">
            <a:avLst/>
          </a:prstGeom>
          <a:noFill/>
          <a:ln/>
        </p:spPr>
        <p:txBody>
          <a:bodyPr wrap="square" lIns="0" tIns="0" rIns="0" bIns="0" rtlCol="0" anchor="t"/>
          <a:lstStyle/>
          <a:p>
            <a:pPr marL="0" indent="0">
              <a:buNone/>
            </a:pPr>
            <a:r>
              <a:rPr lang="en-US" sz="1100" i="1" dirty="0">
                <a:solidFill>
                  <a:schemeClr val="accent6"/>
                </a:solidFill>
              </a:rPr>
              <a:t>Simulator view: code on the left, serial monitor on the right</a:t>
            </a:r>
            <a:endParaRPr lang="en-US" sz="1100" dirty="0"/>
          </a:p>
        </p:txBody>
      </p:sp>
      <p:sp>
        <p:nvSpPr>
          <p:cNvPr id="23" name="Text 20"/>
          <p:cNvSpPr txBox="1"/>
          <p:nvPr/>
        </p:nvSpPr>
        <p:spPr>
          <a:xfrm>
            <a:off x="5056632" y="5145061"/>
            <a:ext cx="6583680" cy="777240"/>
          </a:xfrm>
          <a:prstGeom prst="rect">
            <a:avLst/>
          </a:prstGeom>
          <a:noFill/>
          <a:ln/>
        </p:spPr>
        <p:txBody>
          <a:bodyPr wrap="square" lIns="0" tIns="0" rIns="0" bIns="0" rtlCol="0" anchor="t"/>
          <a:lstStyle/>
          <a:p>
            <a:pPr marL="0" indent="0">
              <a:spcAft>
                <a:spcPts val="400"/>
              </a:spcAft>
              <a:buNone/>
            </a:pPr>
            <a:r>
              <a:rPr lang="en-US" sz="1300" b="1" dirty="0">
                <a:solidFill>
                  <a:schemeClr val="accent4"/>
                </a:solidFill>
              </a:rPr>
              <a:t>[FUSE]  </a:t>
            </a:r>
            <a:r>
              <a:rPr lang="en-US" sz="1300" dirty="0">
                <a:solidFill>
                  <a:schemeClr val="tx1"/>
                </a:solidFill>
              </a:rPr>
              <a:t>lists each evidence reading and the winning score</a:t>
            </a:r>
            <a:endParaRPr lang="en-US" sz="1300" dirty="0"/>
          </a:p>
          <a:p>
            <a:pPr marL="0" indent="0">
              <a:spcAft>
                <a:spcPts val="400"/>
              </a:spcAft>
              <a:buNone/>
            </a:pPr>
            <a:r>
              <a:rPr lang="en-US" sz="1300" b="1" dirty="0">
                <a:solidFill>
                  <a:schemeClr val="accent4"/>
                </a:solidFill>
              </a:rPr>
              <a:t>[STATUS]  </a:t>
            </a:r>
            <a:r>
              <a:rPr lang="en-US" sz="1300" dirty="0">
                <a:solidFill>
                  <a:schemeClr val="tx1"/>
                </a:solidFill>
              </a:rPr>
              <a:t>reports battery level, GPS lock and the vibration flag</a:t>
            </a:r>
            <a:endParaRPr lang="en-US" sz="1300" dirty="0"/>
          </a:p>
        </p:txBody>
      </p:sp>
      <p:sp>
        <p:nvSpPr>
          <p:cNvPr id="24" name="result box"/>
          <p:cNvSpPr/>
          <p:nvPr/>
        </p:nvSpPr>
        <p:spPr>
          <a:xfrm>
            <a:off x="548640" y="5806440"/>
            <a:ext cx="11091672" cy="457200"/>
          </a:xfrm>
          <a:prstGeom prst="roundRect">
            <a:avLst>
              <a:gd name="adj" fmla="val 16000"/>
            </a:avLst>
          </a:prstGeom>
          <a:solidFill>
            <a:schemeClr val="bg2"/>
          </a:solidFill>
          <a:ln w="9525">
            <a:solidFill>
              <a:schemeClr val="bg2"/>
            </a:solidFill>
            <a:prstDash val="solid"/>
          </a:ln>
        </p:spPr>
      </p:sp>
      <p:sp>
        <p:nvSpPr>
          <p:cNvPr id="25" name="result"/>
          <p:cNvSpPr txBox="1"/>
          <p:nvPr/>
        </p:nvSpPr>
        <p:spPr>
          <a:xfrm>
            <a:off x="731520" y="5806440"/>
            <a:ext cx="10789920" cy="457200"/>
          </a:xfrm>
          <a:prstGeom prst="rect">
            <a:avLst/>
          </a:prstGeom>
          <a:noFill/>
          <a:ln/>
        </p:spPr>
        <p:txBody>
          <a:bodyPr wrap="square" lIns="0" tIns="0" rIns="0" bIns="0" rtlCol="0" anchor="ctr"/>
          <a:lstStyle/>
          <a:p>
            <a:pPr marL="0" indent="0">
              <a:buNone/>
            </a:pPr>
            <a:r>
              <a:rPr lang="en-US" sz="1400" b="1" dirty="0">
                <a:solidFill>
                  <a:schemeClr val="accent4"/>
                </a:solidFill>
              </a:rPr>
              <a:t>Result:  </a:t>
            </a:r>
            <a:r>
              <a:rPr lang="en-US" sz="1400" dirty="0">
                <a:solidFill>
                  <a:schemeClr val="tx1"/>
                </a:solidFill>
              </a:rPr>
              <a:t>a working firmware prototype that fuses evidence and reports its own status.</a:t>
            </a:r>
            <a:endParaRPr lang="en-US" sz="1400" dirty="0"/>
          </a:p>
        </p:txBody>
      </p:sp>
      <p:sp>
        <p:nvSpPr>
          <p:cNvPr id="26"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What the tests showed</a:t>
            </a:r>
            <a:endParaRPr lang="en-US" sz="3400" dirty="0"/>
          </a:p>
        </p:txBody>
      </p:sp>
      <p:graphicFrame>
        <p:nvGraphicFramePr>
          <p:cNvPr id="12" name="test table"/>
          <p:cNvGraphicFramePr>
            <a:graphicFrameLocks noGrp="1"/>
          </p:cNvGraphicFramePr>
          <p:nvPr>
            <p:extLst>
              <p:ext uri="{D42A27DB-BD31-4B8C-83A1-F6EECF244321}">
                <p14:modId xmlns:p14="http://schemas.microsoft.com/office/powerpoint/2010/main" val="1579011935"/>
              </p:ext>
            </p:extLst>
          </p:nvPr>
        </p:nvGraphicFramePr>
        <p:xfrm>
          <a:off x="548640" y="1371600"/>
          <a:ext cx="6766560" cy="3401568"/>
        </p:xfrm>
        <a:graphic>
          <a:graphicData uri="http://schemas.openxmlformats.org/drawingml/2006/table">
            <a:tbl>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566928">
                <a:tc>
                  <a:txBody>
                    <a:bodyPr/>
                    <a:lstStyle/>
                    <a:p>
                      <a:pPr marL="0" indent="0">
                        <a:buNone/>
                      </a:pPr>
                      <a:r>
                        <a:rPr lang="en-US" sz="1400" b="1" dirty="0">
                          <a:solidFill>
                            <a:schemeClr val="bg1"/>
                          </a:solidFill>
                        </a:rPr>
                        <a:t>Check in the simulator</a:t>
                      </a:r>
                      <a:endParaRPr lang="en-US" sz="14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Observed</a:t>
                      </a:r>
                      <a:endParaRPr lang="en-US" sz="14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Status</a:t>
                      </a:r>
                      <a:endParaRPr lang="en-US" sz="14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6928">
                <a:tc>
                  <a:txBody>
                    <a:bodyPr/>
                    <a:lstStyle/>
                    <a:p>
                      <a:pPr marL="0" indent="0">
                        <a:buNone/>
                      </a:pPr>
                      <a:r>
                        <a:rPr lang="en-US" sz="1300" dirty="0">
                          <a:solidFill>
                            <a:schemeClr val="tx1"/>
                          </a:solidFill>
                        </a:rPr>
                        <a:t>SD card, ADXL355, SX1262 start-up</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All three reported ok</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rPr>
                        <a:t>Passed</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300" dirty="0">
                          <a:solidFill>
                            <a:schemeClr val="tx1"/>
                          </a:solidFill>
                        </a:rPr>
                        <a:t>GPS status</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Fix with 9 satellites</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rPr>
                        <a:t>Passed</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300" dirty="0">
                          <a:solidFill>
                            <a:schemeClr val="tx1"/>
                          </a:solidFill>
                        </a:rPr>
                        <a:t>Fusion with no animal present</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Score stayed at 0.00</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rPr>
                        <a:t>Passed</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buNone/>
                      </a:pPr>
                      <a:r>
                        <a:rPr lang="en-US" sz="1300" dirty="0">
                          <a:solidFill>
                            <a:schemeClr val="tx1"/>
                          </a:solidFill>
                        </a:rPr>
                        <a:t>GSM module</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Reported not ready, SMS disabled</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4"/>
                          </a:solidFill>
                        </a:rPr>
                        <a:t>Open</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6928">
                <a:tc>
                  <a:txBody>
                    <a:bodyPr/>
                    <a:lstStyle/>
                    <a:p>
                      <a:pPr marL="0" indent="0">
                        <a:buNone/>
                      </a:pPr>
                      <a:r>
                        <a:rPr lang="en-US" sz="1300" dirty="0">
                          <a:solidFill>
                            <a:schemeClr val="tx1"/>
                          </a:solidFill>
                        </a:rPr>
                        <a:t>LoRa chip model</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Logged an unknown opcode note</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4"/>
                          </a:solidFill>
                        </a:rPr>
                        <a:t>Open</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4892040"/>
            <a:ext cx="6766560" cy="822960"/>
          </a:xfrm>
          <a:prstGeom prst="rect">
            <a:avLst/>
          </a:prstGeom>
          <a:noFill/>
          <a:ln/>
        </p:spPr>
        <p:txBody>
          <a:bodyPr wrap="square" lIns="0" tIns="0" rIns="0" bIns="0" rtlCol="0" anchor="t"/>
          <a:lstStyle/>
          <a:p>
            <a:pPr marL="0" indent="0">
              <a:buNone/>
            </a:pPr>
            <a:r>
              <a:rPr lang="en-US" sz="1400" i="1" dirty="0">
                <a:solidFill>
                  <a:schemeClr val="accent6"/>
                </a:solidFill>
              </a:rPr>
              <a:t>In the run we captured, the GSM module never became ready and the LoRa model flagged a command it lacks. Both are noted as fixes for the driver stage, not as completed radio or SMS tests.</a:t>
            </a:r>
            <a:endParaRPr lang="en-US" sz="1400" dirty="0"/>
          </a:p>
        </p:txBody>
      </p:sp>
      <p:sp>
        <p:nvSpPr>
          <p:cNvPr id="5" name="not done card"/>
          <p:cNvSpPr/>
          <p:nvPr/>
        </p:nvSpPr>
        <p:spPr>
          <a:xfrm>
            <a:off x="7589520" y="1371600"/>
            <a:ext cx="4050792" cy="4343400"/>
          </a:xfrm>
          <a:prstGeom prst="roundRect">
            <a:avLst>
              <a:gd name="adj" fmla="val 1806"/>
            </a:avLst>
          </a:prstGeom>
          <a:solidFill>
            <a:schemeClr val="accent4">
              <a:alpha val="10000"/>
            </a:schemeClr>
          </a:solidFill>
          <a:ln w="9525">
            <a:solidFill>
              <a:schemeClr val="accent4"/>
            </a:solidFill>
            <a:prstDash val="solid"/>
          </a:ln>
        </p:spPr>
      </p:sp>
      <p:pic>
        <p:nvPicPr>
          <p:cNvPr id="6" name="Image 0" descr="warning"/>
          <p:cNvPicPr>
            <a:picLocks noChangeAspect="1"/>
          </p:cNvPicPr>
          <p:nvPr/>
        </p:nvPicPr>
        <p:blipFill>
          <a:blip r:embed="rId3"/>
          <a:stretch>
            <a:fillRect/>
          </a:stretch>
        </p:blipFill>
        <p:spPr>
          <a:xfrm>
            <a:off x="7818120" y="1572768"/>
            <a:ext cx="365760" cy="365760"/>
          </a:xfrm>
          <a:prstGeom prst="rect">
            <a:avLst/>
          </a:prstGeom>
        </p:spPr>
      </p:pic>
      <p:sp>
        <p:nvSpPr>
          <p:cNvPr id="7" name="Text 3"/>
          <p:cNvSpPr txBox="1"/>
          <p:nvPr/>
        </p:nvSpPr>
        <p:spPr>
          <a:xfrm>
            <a:off x="8321040" y="1554480"/>
            <a:ext cx="3108960" cy="411480"/>
          </a:xfrm>
          <a:prstGeom prst="rect">
            <a:avLst/>
          </a:prstGeom>
          <a:noFill/>
          <a:ln/>
        </p:spPr>
        <p:txBody>
          <a:bodyPr wrap="square" lIns="0" tIns="0" rIns="0" bIns="0" rtlCol="0" anchor="ctr"/>
          <a:lstStyle/>
          <a:p>
            <a:pPr marL="0" indent="0">
              <a:buNone/>
            </a:pPr>
            <a:r>
              <a:rPr lang="en-US" sz="2000" b="1" dirty="0">
                <a:solidFill>
                  <a:schemeClr val="accent4"/>
                </a:solidFill>
                <a:latin typeface="Cambria" pitchFamily="34" charset="0"/>
                <a:ea typeface="Cambria" pitchFamily="34" charset="-122"/>
                <a:cs typeface="Cambria" pitchFamily="34" charset="-120"/>
              </a:rPr>
              <a:t>Not done yet</a:t>
            </a:r>
            <a:endParaRPr lang="en-US" sz="2000" dirty="0"/>
          </a:p>
        </p:txBody>
      </p:sp>
      <p:sp>
        <p:nvSpPr>
          <p:cNvPr id="8" name="Text 4"/>
          <p:cNvSpPr txBox="1"/>
          <p:nvPr/>
        </p:nvSpPr>
        <p:spPr>
          <a:xfrm>
            <a:off x="7818120" y="2240280"/>
            <a:ext cx="3611880" cy="32918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No physical node has been built</a:t>
            </a:r>
            <a:endParaRPr lang="en-US" sz="1600" dirty="0"/>
          </a:p>
          <a:p>
            <a:pPr marL="342900" indent="-342900">
              <a:spcAft>
                <a:spcPts val="1400"/>
              </a:spcAft>
              <a:buSzPct val="100000"/>
              <a:buChar char="•"/>
            </a:pPr>
            <a:r>
              <a:rPr lang="en-US" sz="1600" dirty="0">
                <a:solidFill>
                  <a:schemeClr val="tx1"/>
                </a:solidFill>
              </a:rPr>
              <a:t>No forest trial has taken place</a:t>
            </a:r>
            <a:endParaRPr lang="en-US" sz="1600" dirty="0"/>
          </a:p>
          <a:p>
            <a:pPr marL="342900" indent="-342900">
              <a:spcAft>
                <a:spcPts val="1400"/>
              </a:spcAft>
              <a:buSzPct val="100000"/>
              <a:buChar char="•"/>
            </a:pPr>
            <a:r>
              <a:rPr lang="en-US" sz="1600" dirty="0">
                <a:solidFill>
                  <a:schemeClr val="tx1"/>
                </a:solidFill>
              </a:rPr>
              <a:t>No real SMS or LoRa message delivered</a:t>
            </a:r>
            <a:endParaRPr lang="en-US" sz="1600" dirty="0"/>
          </a:p>
          <a:p>
            <a:pPr marL="342900" indent="-342900">
              <a:spcAft>
                <a:spcPts val="1400"/>
              </a:spcAft>
              <a:buSzPct val="100000"/>
              <a:buChar char="•"/>
            </a:pPr>
            <a:r>
              <a:rPr lang="en-US" sz="1600" dirty="0">
                <a:solidFill>
                  <a:schemeClr val="tx1"/>
                </a:solidFill>
              </a:rPr>
              <a:t>Detection not trained on real forest data</a:t>
            </a:r>
            <a:endParaRPr lang="en-US" sz="1600" dirty="0"/>
          </a:p>
          <a:p>
            <a:pPr marL="342900" indent="-342900">
              <a:spcAft>
                <a:spcPts val="1400"/>
              </a:spcAft>
              <a:buSzPct val="100000"/>
              <a:buChar char="•"/>
            </a:pPr>
            <a:r>
              <a:rPr lang="en-US" sz="1600" dirty="0">
                <a:solidFill>
                  <a:schemeClr val="tx1"/>
                </a:solidFill>
              </a:rPr>
              <a:t>App shows demo records only</a:t>
            </a:r>
            <a:endParaRPr lang="en-US" sz="1600" dirty="0"/>
          </a:p>
        </p:txBody>
      </p:sp>
      <p:sp>
        <p:nvSpPr>
          <p:cNvPr id="9" name="result box"/>
          <p:cNvSpPr/>
          <p:nvPr/>
        </p:nvSpPr>
        <p:spPr>
          <a:xfrm>
            <a:off x="548640" y="5897880"/>
            <a:ext cx="11091672" cy="457200"/>
          </a:xfrm>
          <a:prstGeom prst="roundRect">
            <a:avLst>
              <a:gd name="adj" fmla="val 16000"/>
            </a:avLst>
          </a:prstGeom>
          <a:solidFill>
            <a:schemeClr val="bg2"/>
          </a:solidFill>
          <a:ln w="9525">
            <a:solidFill>
              <a:schemeClr val="bg2"/>
            </a:solidFill>
            <a:prstDash val="solid"/>
          </a:ln>
        </p:spPr>
      </p:sp>
      <p:sp>
        <p:nvSpPr>
          <p:cNvPr id="10" name="result"/>
          <p:cNvSpPr txBox="1"/>
          <p:nvPr/>
        </p:nvSpPr>
        <p:spPr>
          <a:xfrm>
            <a:off x="731520" y="5897880"/>
            <a:ext cx="10789920" cy="457200"/>
          </a:xfrm>
          <a:prstGeom prst="rect">
            <a:avLst/>
          </a:prstGeom>
          <a:noFill/>
          <a:ln/>
        </p:spPr>
        <p:txBody>
          <a:bodyPr wrap="square" lIns="0" tIns="0" rIns="0" bIns="0" rtlCol="0" anchor="ctr"/>
          <a:lstStyle/>
          <a:p>
            <a:pPr marL="0" indent="0">
              <a:buNone/>
            </a:pPr>
            <a:r>
              <a:rPr lang="en-US" sz="1400" b="1" dirty="0">
                <a:solidFill>
                  <a:schemeClr val="accent4"/>
                </a:solidFill>
              </a:rPr>
              <a:t>Result:  </a:t>
            </a:r>
            <a:r>
              <a:rPr lang="en-US" sz="1400" dirty="0">
                <a:solidFill>
                  <a:schemeClr val="tx1"/>
                </a:solidFill>
              </a:rPr>
              <a:t>a design that starts up correctly in simulation, with its gaps stated openly.</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Protecting animals, people and data</a:t>
            </a:r>
            <a:endParaRPr lang="en-US" sz="3400" dirty="0"/>
          </a:p>
        </p:txBody>
      </p:sp>
      <p:sp>
        <p:nvSpPr>
          <p:cNvPr id="3" name="rule 1"/>
          <p:cNvSpPr/>
          <p:nvPr/>
        </p:nvSpPr>
        <p:spPr>
          <a:xfrm>
            <a:off x="548640" y="1371600"/>
            <a:ext cx="5468112" cy="1417320"/>
          </a:xfrm>
          <a:prstGeom prst="roundRect">
            <a:avLst>
              <a:gd name="adj" fmla="val 5161"/>
            </a:avLst>
          </a:prstGeom>
          <a:solidFill>
            <a:schemeClr val="bg2"/>
          </a:solidFill>
          <a:ln w="9525">
            <a:solidFill>
              <a:schemeClr val="bg2"/>
            </a:solidFill>
            <a:prstDash val="solid"/>
          </a:ln>
        </p:spPr>
      </p:sp>
      <p:sp>
        <p:nvSpPr>
          <p:cNvPr id="4" name="icon disc"/>
          <p:cNvSpPr/>
          <p:nvPr/>
        </p:nvSpPr>
        <p:spPr>
          <a:xfrm>
            <a:off x="777240" y="1783080"/>
            <a:ext cx="594360" cy="594360"/>
          </a:xfrm>
          <a:prstGeom prst="ellipse">
            <a:avLst/>
          </a:prstGeom>
          <a:solidFill>
            <a:schemeClr val="bg1"/>
          </a:solidFill>
          <a:ln w="12700">
            <a:solidFill>
              <a:schemeClr val="bg1"/>
            </a:solidFill>
            <a:prstDash val="solid"/>
          </a:ln>
        </p:spPr>
      </p:sp>
      <p:pic>
        <p:nvPicPr>
          <p:cNvPr id="5" name="Image 0" descr="Approximate zone for the public"/>
          <p:cNvPicPr>
            <a:picLocks noChangeAspect="1"/>
          </p:cNvPicPr>
          <p:nvPr/>
        </p:nvPicPr>
        <p:blipFill>
          <a:blip r:embed="rId3"/>
          <a:stretch>
            <a:fillRect/>
          </a:stretch>
        </p:blipFill>
        <p:spPr>
          <a:xfrm>
            <a:off x="932688" y="1938528"/>
            <a:ext cx="283464" cy="283464"/>
          </a:xfrm>
          <a:prstGeom prst="rect">
            <a:avLst/>
          </a:prstGeom>
        </p:spPr>
      </p:pic>
      <p:sp>
        <p:nvSpPr>
          <p:cNvPr id="6" name="Text 3"/>
          <p:cNvSpPr txBox="1"/>
          <p:nvPr/>
        </p:nvSpPr>
        <p:spPr>
          <a:xfrm>
            <a:off x="1600200" y="1572768"/>
            <a:ext cx="4206240" cy="365760"/>
          </a:xfrm>
          <a:prstGeom prst="rect">
            <a:avLst/>
          </a:prstGeom>
          <a:noFill/>
          <a:ln/>
        </p:spPr>
        <p:txBody>
          <a:bodyPr wrap="square" lIns="0" tIns="0" rIns="0" bIns="0" rtlCol="0" anchor="t"/>
          <a:lstStyle/>
          <a:p>
            <a:pPr marL="0" indent="0">
              <a:buNone/>
            </a:pPr>
            <a:r>
              <a:rPr lang="en-US" sz="1700" b="1" dirty="0">
                <a:solidFill>
                  <a:schemeClr val="tx2"/>
                </a:solidFill>
              </a:rPr>
              <a:t>Approximate zone for the public</a:t>
            </a:r>
            <a:endParaRPr lang="en-US" sz="1700" dirty="0"/>
          </a:p>
        </p:txBody>
      </p:sp>
      <p:sp>
        <p:nvSpPr>
          <p:cNvPr id="7" name="Text 4"/>
          <p:cNvSpPr txBox="1"/>
          <p:nvPr/>
        </p:nvSpPr>
        <p:spPr>
          <a:xfrm>
            <a:off x="1600200" y="2011680"/>
            <a:ext cx="4206240" cy="685800"/>
          </a:xfrm>
          <a:prstGeom prst="rect">
            <a:avLst/>
          </a:prstGeom>
          <a:noFill/>
          <a:ln/>
        </p:spPr>
        <p:txBody>
          <a:bodyPr wrap="square" lIns="0" tIns="0" rIns="0" bIns="0" rtlCol="0" anchor="t"/>
          <a:lstStyle/>
          <a:p>
            <a:pPr marL="0" indent="0">
              <a:buNone/>
            </a:pPr>
            <a:r>
              <a:rPr lang="en-US" sz="1400" dirty="0">
                <a:solidFill>
                  <a:schemeClr val="tx1"/>
                </a:solidFill>
              </a:rPr>
              <a:t>Residents see a danger area and safety advice, never a pin on the animal.</a:t>
            </a:r>
            <a:endParaRPr lang="en-US" sz="1400" dirty="0"/>
          </a:p>
        </p:txBody>
      </p:sp>
      <p:sp>
        <p:nvSpPr>
          <p:cNvPr id="8" name="rule 2"/>
          <p:cNvSpPr/>
          <p:nvPr/>
        </p:nvSpPr>
        <p:spPr>
          <a:xfrm>
            <a:off x="6172200" y="1371600"/>
            <a:ext cx="5468112" cy="1417320"/>
          </a:xfrm>
          <a:prstGeom prst="roundRect">
            <a:avLst>
              <a:gd name="adj" fmla="val 5161"/>
            </a:avLst>
          </a:prstGeom>
          <a:solidFill>
            <a:schemeClr val="bg2"/>
          </a:solidFill>
          <a:ln w="9525">
            <a:solidFill>
              <a:schemeClr val="bg2"/>
            </a:solidFill>
            <a:prstDash val="solid"/>
          </a:ln>
        </p:spPr>
      </p:sp>
      <p:sp>
        <p:nvSpPr>
          <p:cNvPr id="9" name="icon disc"/>
          <p:cNvSpPr/>
          <p:nvPr/>
        </p:nvSpPr>
        <p:spPr>
          <a:xfrm>
            <a:off x="6400800" y="1783080"/>
            <a:ext cx="594360" cy="594360"/>
          </a:xfrm>
          <a:prstGeom prst="ellipse">
            <a:avLst/>
          </a:prstGeom>
          <a:solidFill>
            <a:schemeClr val="bg1"/>
          </a:solidFill>
          <a:ln w="12700">
            <a:solidFill>
              <a:schemeClr val="bg1"/>
            </a:solidFill>
            <a:prstDash val="solid"/>
          </a:ln>
        </p:spPr>
      </p:sp>
      <p:pic>
        <p:nvPicPr>
          <p:cNvPr id="10" name="Image 1" descr="Exact position for staff only"/>
          <p:cNvPicPr>
            <a:picLocks noChangeAspect="1"/>
          </p:cNvPicPr>
          <p:nvPr/>
        </p:nvPicPr>
        <p:blipFill>
          <a:blip r:embed="rId4"/>
          <a:stretch>
            <a:fillRect/>
          </a:stretch>
        </p:blipFill>
        <p:spPr>
          <a:xfrm>
            <a:off x="6556248" y="1938528"/>
            <a:ext cx="283464" cy="283464"/>
          </a:xfrm>
          <a:prstGeom prst="rect">
            <a:avLst/>
          </a:prstGeom>
        </p:spPr>
      </p:pic>
      <p:sp>
        <p:nvSpPr>
          <p:cNvPr id="11" name="Text 7"/>
          <p:cNvSpPr txBox="1"/>
          <p:nvPr/>
        </p:nvSpPr>
        <p:spPr>
          <a:xfrm>
            <a:off x="7223760" y="1572768"/>
            <a:ext cx="4206240" cy="365760"/>
          </a:xfrm>
          <a:prstGeom prst="rect">
            <a:avLst/>
          </a:prstGeom>
          <a:noFill/>
          <a:ln/>
        </p:spPr>
        <p:txBody>
          <a:bodyPr wrap="square" lIns="0" tIns="0" rIns="0" bIns="0" rtlCol="0" anchor="t"/>
          <a:lstStyle/>
          <a:p>
            <a:pPr marL="0" indent="0">
              <a:buNone/>
            </a:pPr>
            <a:r>
              <a:rPr lang="en-US" sz="1700" b="1" dirty="0">
                <a:solidFill>
                  <a:schemeClr val="tx2"/>
                </a:solidFill>
              </a:rPr>
              <a:t>Exact position for staff only</a:t>
            </a:r>
            <a:endParaRPr lang="en-US" sz="1700" dirty="0"/>
          </a:p>
        </p:txBody>
      </p:sp>
      <p:sp>
        <p:nvSpPr>
          <p:cNvPr id="12" name="Text 8"/>
          <p:cNvSpPr txBox="1"/>
          <p:nvPr/>
        </p:nvSpPr>
        <p:spPr>
          <a:xfrm>
            <a:off x="7223760" y="2011680"/>
            <a:ext cx="4206240" cy="685800"/>
          </a:xfrm>
          <a:prstGeom prst="rect">
            <a:avLst/>
          </a:prstGeom>
          <a:noFill/>
          <a:ln/>
        </p:spPr>
        <p:txBody>
          <a:bodyPr wrap="square" lIns="0" tIns="0" rIns="0" bIns="0" rtlCol="0" anchor="t"/>
          <a:lstStyle/>
          <a:p>
            <a:pPr marL="0" indent="0">
              <a:buNone/>
            </a:pPr>
            <a:r>
              <a:rPr lang="en-US" sz="1400" dirty="0">
                <a:solidFill>
                  <a:schemeClr val="tx1"/>
                </a:solidFill>
              </a:rPr>
              <a:t>Precise locations stay inside the Forest Department portal.</a:t>
            </a:r>
            <a:endParaRPr lang="en-US" sz="1400" dirty="0"/>
          </a:p>
        </p:txBody>
      </p:sp>
      <p:sp>
        <p:nvSpPr>
          <p:cNvPr id="13" name="rule 3"/>
          <p:cNvSpPr/>
          <p:nvPr/>
        </p:nvSpPr>
        <p:spPr>
          <a:xfrm>
            <a:off x="548640" y="2971800"/>
            <a:ext cx="5468112" cy="1417320"/>
          </a:xfrm>
          <a:prstGeom prst="roundRect">
            <a:avLst>
              <a:gd name="adj" fmla="val 5161"/>
            </a:avLst>
          </a:prstGeom>
          <a:solidFill>
            <a:schemeClr val="bg2"/>
          </a:solidFill>
          <a:ln w="9525">
            <a:solidFill>
              <a:schemeClr val="bg2"/>
            </a:solidFill>
            <a:prstDash val="solid"/>
          </a:ln>
        </p:spPr>
      </p:sp>
      <p:sp>
        <p:nvSpPr>
          <p:cNvPr id="14" name="icon disc"/>
          <p:cNvSpPr/>
          <p:nvPr/>
        </p:nvSpPr>
        <p:spPr>
          <a:xfrm>
            <a:off x="777240" y="3383280"/>
            <a:ext cx="594360" cy="594360"/>
          </a:xfrm>
          <a:prstGeom prst="ellipse">
            <a:avLst/>
          </a:prstGeom>
          <a:solidFill>
            <a:schemeClr val="bg1"/>
          </a:solidFill>
          <a:ln w="12700">
            <a:solidFill>
              <a:schemeClr val="bg1"/>
            </a:solidFill>
            <a:prstDash val="solid"/>
          </a:ln>
        </p:spPr>
      </p:sp>
      <p:pic>
        <p:nvPicPr>
          <p:cNvPr id="15" name="Image 2" descr="Location sharing is optional"/>
          <p:cNvPicPr>
            <a:picLocks noChangeAspect="1"/>
          </p:cNvPicPr>
          <p:nvPr/>
        </p:nvPicPr>
        <p:blipFill>
          <a:blip r:embed="rId5"/>
          <a:stretch>
            <a:fillRect/>
          </a:stretch>
        </p:blipFill>
        <p:spPr>
          <a:xfrm>
            <a:off x="932688" y="3538728"/>
            <a:ext cx="283464" cy="283464"/>
          </a:xfrm>
          <a:prstGeom prst="rect">
            <a:avLst/>
          </a:prstGeom>
        </p:spPr>
      </p:pic>
      <p:sp>
        <p:nvSpPr>
          <p:cNvPr id="16" name="Text 11"/>
          <p:cNvSpPr txBox="1"/>
          <p:nvPr/>
        </p:nvSpPr>
        <p:spPr>
          <a:xfrm>
            <a:off x="1600200" y="3172968"/>
            <a:ext cx="4206240" cy="365760"/>
          </a:xfrm>
          <a:prstGeom prst="rect">
            <a:avLst/>
          </a:prstGeom>
          <a:noFill/>
          <a:ln/>
        </p:spPr>
        <p:txBody>
          <a:bodyPr wrap="square" lIns="0" tIns="0" rIns="0" bIns="0" rtlCol="0" anchor="t"/>
          <a:lstStyle/>
          <a:p>
            <a:pPr marL="0" indent="0">
              <a:buNone/>
            </a:pPr>
            <a:r>
              <a:rPr lang="en-US" sz="1700" b="1" dirty="0">
                <a:solidFill>
                  <a:schemeClr val="tx2"/>
                </a:solidFill>
              </a:rPr>
              <a:t>Location sharing is optional</a:t>
            </a:r>
            <a:endParaRPr lang="en-US" sz="1700" dirty="0"/>
          </a:p>
        </p:txBody>
      </p:sp>
      <p:sp>
        <p:nvSpPr>
          <p:cNvPr id="17" name="Text 12"/>
          <p:cNvSpPr txBox="1"/>
          <p:nvPr/>
        </p:nvSpPr>
        <p:spPr>
          <a:xfrm>
            <a:off x="1600200" y="3611880"/>
            <a:ext cx="4206240" cy="685800"/>
          </a:xfrm>
          <a:prstGeom prst="rect">
            <a:avLst/>
          </a:prstGeom>
          <a:noFill/>
          <a:ln/>
        </p:spPr>
        <p:txBody>
          <a:bodyPr wrap="square" lIns="0" tIns="0" rIns="0" bIns="0" rtlCol="0" anchor="t"/>
          <a:lstStyle/>
          <a:p>
            <a:pPr marL="0" indent="0">
              <a:buNone/>
            </a:pPr>
            <a:r>
              <a:rPr lang="en-US" sz="1400" dirty="0">
                <a:solidFill>
                  <a:schemeClr val="tx1"/>
                </a:solidFill>
              </a:rPr>
              <a:t>A public user can switch location use off and still read alerts.</a:t>
            </a:r>
            <a:endParaRPr lang="en-US" sz="1400" dirty="0"/>
          </a:p>
        </p:txBody>
      </p:sp>
      <p:sp>
        <p:nvSpPr>
          <p:cNvPr id="18" name="rule 4"/>
          <p:cNvSpPr/>
          <p:nvPr/>
        </p:nvSpPr>
        <p:spPr>
          <a:xfrm>
            <a:off x="6172200" y="2971800"/>
            <a:ext cx="5468112" cy="1417320"/>
          </a:xfrm>
          <a:prstGeom prst="roundRect">
            <a:avLst>
              <a:gd name="adj" fmla="val 5161"/>
            </a:avLst>
          </a:prstGeom>
          <a:solidFill>
            <a:schemeClr val="bg2"/>
          </a:solidFill>
          <a:ln w="9525">
            <a:solidFill>
              <a:schemeClr val="bg2"/>
            </a:solidFill>
            <a:prstDash val="solid"/>
          </a:ln>
        </p:spPr>
      </p:sp>
      <p:sp>
        <p:nvSpPr>
          <p:cNvPr id="19" name="icon disc"/>
          <p:cNvSpPr/>
          <p:nvPr/>
        </p:nvSpPr>
        <p:spPr>
          <a:xfrm>
            <a:off x="6400800" y="3383280"/>
            <a:ext cx="594360" cy="594360"/>
          </a:xfrm>
          <a:prstGeom prst="ellipse">
            <a:avLst/>
          </a:prstGeom>
          <a:solidFill>
            <a:schemeClr val="bg1"/>
          </a:solidFill>
          <a:ln w="12700">
            <a:solidFill>
              <a:schemeClr val="bg1"/>
            </a:solidFill>
            <a:prstDash val="solid"/>
          </a:ln>
        </p:spPr>
      </p:sp>
      <p:pic>
        <p:nvPicPr>
          <p:cNvPr id="20" name="Image 3" descr="No real personal data in the prototype"/>
          <p:cNvPicPr>
            <a:picLocks noChangeAspect="1"/>
          </p:cNvPicPr>
          <p:nvPr/>
        </p:nvPicPr>
        <p:blipFill>
          <a:blip r:embed="rId6"/>
          <a:stretch>
            <a:fillRect/>
          </a:stretch>
        </p:blipFill>
        <p:spPr>
          <a:xfrm>
            <a:off x="6556248" y="3538728"/>
            <a:ext cx="283464" cy="283464"/>
          </a:xfrm>
          <a:prstGeom prst="rect">
            <a:avLst/>
          </a:prstGeom>
        </p:spPr>
      </p:pic>
      <p:sp>
        <p:nvSpPr>
          <p:cNvPr id="21" name="Text 15"/>
          <p:cNvSpPr txBox="1"/>
          <p:nvPr/>
        </p:nvSpPr>
        <p:spPr>
          <a:xfrm>
            <a:off x="7223760" y="3172968"/>
            <a:ext cx="4206240" cy="365760"/>
          </a:xfrm>
          <a:prstGeom prst="rect">
            <a:avLst/>
          </a:prstGeom>
          <a:noFill/>
          <a:ln/>
        </p:spPr>
        <p:txBody>
          <a:bodyPr wrap="square" lIns="0" tIns="0" rIns="0" bIns="0" rtlCol="0" anchor="t"/>
          <a:lstStyle/>
          <a:p>
            <a:pPr marL="0" indent="0">
              <a:buNone/>
            </a:pPr>
            <a:r>
              <a:rPr lang="en-US" sz="1700" b="1" dirty="0">
                <a:solidFill>
                  <a:schemeClr val="tx2"/>
                </a:solidFill>
              </a:rPr>
              <a:t>No real personal data in the prototype</a:t>
            </a:r>
            <a:endParaRPr lang="en-US" sz="1700" dirty="0"/>
          </a:p>
        </p:txBody>
      </p:sp>
      <p:sp>
        <p:nvSpPr>
          <p:cNvPr id="22" name="Text 16"/>
          <p:cNvSpPr txBox="1"/>
          <p:nvPr/>
        </p:nvSpPr>
        <p:spPr>
          <a:xfrm>
            <a:off x="7223760" y="3611880"/>
            <a:ext cx="4206240" cy="685800"/>
          </a:xfrm>
          <a:prstGeom prst="rect">
            <a:avLst/>
          </a:prstGeom>
          <a:noFill/>
          <a:ln/>
        </p:spPr>
        <p:txBody>
          <a:bodyPr wrap="square" lIns="0" tIns="0" rIns="0" bIns="0" rtlCol="0" anchor="t"/>
          <a:lstStyle/>
          <a:p>
            <a:pPr marL="0" indent="0">
              <a:buNone/>
            </a:pPr>
            <a:r>
              <a:rPr lang="en-US" sz="1400" dirty="0">
                <a:solidFill>
                  <a:schemeClr val="tx1"/>
                </a:solidFill>
              </a:rPr>
              <a:t>Demo sign-in, sample reports and local SD logging only.</a:t>
            </a:r>
            <a:endParaRPr lang="en-US" sz="1400" dirty="0"/>
          </a:p>
        </p:txBody>
      </p:sp>
      <p:sp>
        <p:nvSpPr>
          <p:cNvPr id="23" name="before live use"/>
          <p:cNvSpPr/>
          <p:nvPr/>
        </p:nvSpPr>
        <p:spPr>
          <a:xfrm>
            <a:off x="548640" y="4663440"/>
            <a:ext cx="11091672" cy="1508760"/>
          </a:xfrm>
          <a:prstGeom prst="roundRect">
            <a:avLst>
              <a:gd name="adj" fmla="val 4848"/>
            </a:avLst>
          </a:prstGeom>
          <a:solidFill>
            <a:schemeClr val="accent1"/>
          </a:solidFill>
          <a:ln w="9525">
            <a:solidFill>
              <a:schemeClr val="accent1"/>
            </a:solidFill>
            <a:prstDash val="solid"/>
          </a:ln>
        </p:spPr>
      </p:sp>
      <p:sp>
        <p:nvSpPr>
          <p:cNvPr id="24" name="Text 18"/>
          <p:cNvSpPr txBox="1"/>
          <p:nvPr/>
        </p:nvSpPr>
        <p:spPr>
          <a:xfrm>
            <a:off x="822960" y="4800600"/>
            <a:ext cx="4572000" cy="365760"/>
          </a:xfrm>
          <a:prstGeom prst="rect">
            <a:avLst/>
          </a:prstGeom>
          <a:noFill/>
          <a:ln/>
        </p:spPr>
        <p:txBody>
          <a:bodyPr wrap="square" lIns="0" tIns="0" rIns="0" bIns="0" rtlCol="0" anchor="t"/>
          <a:lstStyle/>
          <a:p>
            <a:pPr marL="0" indent="0">
              <a:buNone/>
            </a:pPr>
            <a:r>
              <a:rPr lang="en-US" sz="1800" b="1" dirty="0">
                <a:solidFill>
                  <a:schemeClr val="accent2"/>
                </a:solidFill>
                <a:latin typeface="Cambria" pitchFamily="34" charset="0"/>
                <a:ea typeface="Cambria" pitchFamily="34" charset="-122"/>
                <a:cs typeface="Cambria" pitchFamily="34" charset="-120"/>
              </a:rPr>
              <a:t>Before any real deployment</a:t>
            </a:r>
            <a:endParaRPr lang="en-US" sz="1800" dirty="0"/>
          </a:p>
        </p:txBody>
      </p:sp>
      <p:sp>
        <p:nvSpPr>
          <p:cNvPr id="25" name="Text 19"/>
          <p:cNvSpPr txBox="1"/>
          <p:nvPr/>
        </p:nvSpPr>
        <p:spPr>
          <a:xfrm>
            <a:off x="822960" y="5212080"/>
            <a:ext cx="10515600" cy="868680"/>
          </a:xfrm>
          <a:prstGeom prst="rect">
            <a:avLst/>
          </a:prstGeom>
          <a:noFill/>
          <a:ln/>
        </p:spPr>
        <p:txBody>
          <a:bodyPr wrap="square" lIns="0" tIns="0" rIns="0" bIns="0" rtlCol="0" anchor="t"/>
          <a:lstStyle/>
          <a:p>
            <a:pPr marL="0" indent="0">
              <a:buNone/>
            </a:pPr>
            <a:r>
              <a:rPr lang="en-US" sz="1500" dirty="0">
                <a:solidFill>
                  <a:schemeClr val="bg1"/>
                </a:solidFill>
              </a:rPr>
              <a:t>Link the screens to a real server with proper accounts and secure login, try the radio and SMS chain outdoors, and check the detection model on forest data so the false-alarm rate is known.</a:t>
            </a:r>
            <a:endParaRPr lang="en-US" sz="1500" dirty="0"/>
          </a:p>
        </p:txBody>
      </p:sp>
      <p:sp>
        <p:nvSpPr>
          <p:cNvPr id="26"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400" b="1" dirty="0">
                <a:solidFill>
                  <a:schemeClr val="tx2"/>
                </a:solidFill>
              </a:rPr>
              <a:t>Challenges and how we handled them</a:t>
            </a:r>
            <a:endParaRPr lang="en-US" sz="3400" dirty="0"/>
          </a:p>
        </p:txBody>
      </p:sp>
      <p:graphicFrame>
        <p:nvGraphicFramePr>
          <p:cNvPr id="14" name="challenge table"/>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3995928"/>
        </p:xfrm>
        <a:graphic>
          <a:graphicData uri="http://schemas.openxmlformats.org/drawingml/2006/table">
            <a:tbl>
              <a:tblPr/>
              <a:tblGrid>
                <a:gridCol w="30175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Challenge</a:t>
                      </a:r>
                      <a:endParaRPr lang="en-US" sz="14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What we did</a:t>
                      </a:r>
                      <a:endParaRPr lang="en-US" sz="14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22376">
                <a:tc>
                  <a:txBody>
                    <a:bodyPr/>
                    <a:lstStyle/>
                    <a:p>
                      <a:pPr marL="0" indent="0">
                        <a:buNone/>
                      </a:pPr>
                      <a:r>
                        <a:rPr lang="en-US" sz="1300" b="1" dirty="0">
                          <a:solidFill>
                            <a:schemeClr val="tx1"/>
                          </a:solidFill>
                        </a:rPr>
                        <a:t>No mobile network in forests</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Designed a LoRa link with an SMS fallback instead of an app-only alert</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22376">
                <a:tc>
                  <a:txBody>
                    <a:bodyPr/>
                    <a:lstStyle/>
                    <a:p>
                      <a:pPr marL="0" indent="0">
                        <a:buNone/>
                      </a:pPr>
                      <a:r>
                        <a:rPr lang="en-US" sz="1300" b="1" dirty="0">
                          <a:solidFill>
                            <a:schemeClr val="tx1"/>
                          </a:solidFill>
                        </a:rPr>
                        <a:t>Reliable detection on a small device</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Chose a vision module with its own NPU and combined three kinds of evidence</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22376">
                <a:tc>
                  <a:txBody>
                    <a:bodyPr/>
                    <a:lstStyle/>
                    <a:p>
                      <a:pPr marL="0" indent="0">
                        <a:buNone/>
                      </a:pPr>
                      <a:r>
                        <a:rPr lang="en-US" sz="1300" b="1" dirty="0">
                          <a:solidFill>
                            <a:schemeClr val="tx1"/>
                          </a:solidFill>
                        </a:rPr>
                        <a:t>Libraries that fit the chosen parts</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Spent most of week 12 matching them, and tested each part in Wokwi first</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22376">
                <a:tc>
                  <a:txBody>
                    <a:bodyPr/>
                    <a:lstStyle/>
                    <a:p>
                      <a:pPr marL="0" indent="0">
                        <a:buNone/>
                      </a:pPr>
                      <a:r>
                        <a:rPr lang="en-US" sz="1300" b="1" dirty="0">
                          <a:solidFill>
                            <a:schemeClr val="tx1"/>
                          </a:solidFill>
                        </a:rPr>
                        <a:t>Hardware only half done in week 6</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Kept researching boards and LoRa clusters in weeks 10 and 11</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722376">
                <a:tc>
                  <a:txBody>
                    <a:bodyPr/>
                    <a:lstStyle/>
                    <a:p>
                      <a:pPr marL="0" indent="0">
                        <a:buNone/>
                      </a:pPr>
                      <a:r>
                        <a:rPr lang="en-US" sz="1300" b="1" dirty="0">
                          <a:solidFill>
                            <a:schemeClr val="tx1"/>
                          </a:solidFill>
                        </a:rPr>
                        <a:t>Exact animal location could invite harm</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Showed the public only an approximate zone</a:t>
                      </a:r>
                      <a:endParaRPr lang="en-US" sz="1300" dirty="0"/>
                    </a:p>
                  </a:txBody>
                  <a:tcPr marT="36576" marB="36576" anchor="ctr">
                    <a:lnL w="9525" cap="flat" cmpd="sng" algn="ctr">
                      <a:solidFill>
                        <a:srgbClr val="C9D6CD"/>
                      </a:solidFill>
                      <a:prstDash val="solid"/>
                      <a:round/>
                      <a:headEnd type="none" w="med" len="med"/>
                      <a:tailEnd type="none" w="med" len="med"/>
                    </a:lnL>
                    <a:lnR w="9525" cap="flat" cmpd="sng" algn="ctr">
                      <a:solidFill>
                        <a:srgbClr val="C9D6CD"/>
                      </a:solidFill>
                      <a:prstDash val="solid"/>
                      <a:round/>
                      <a:headEnd type="none" w="med" len="med"/>
                      <a:tailEnd type="none" w="med" len="med"/>
                    </a:lnR>
                    <a:lnT w="9525" cap="flat" cmpd="sng" algn="ctr">
                      <a:solidFill>
                        <a:srgbClr val="C9D6CD"/>
                      </a:solidFill>
                      <a:prstDash val="solid"/>
                      <a:round/>
                      <a:headEnd type="none" w="med" len="med"/>
                      <a:tailEnd type="none" w="med" len="med"/>
                    </a:lnT>
                    <a:lnB w="9525" cap="flat" cmpd="sng" algn="ctr">
                      <a:solidFill>
                        <a:srgbClr val="C9D6CD"/>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learnt card"/>
          <p:cNvSpPr/>
          <p:nvPr/>
        </p:nvSpPr>
        <p:spPr>
          <a:xfrm>
            <a:off x="8138160" y="1371600"/>
            <a:ext cx="3502152" cy="4023360"/>
          </a:xfrm>
          <a:prstGeom prst="roundRect">
            <a:avLst>
              <a:gd name="adj" fmla="val 2089"/>
            </a:avLst>
          </a:prstGeom>
          <a:solidFill>
            <a:schemeClr val="accent1"/>
          </a:solidFill>
          <a:ln w="9525">
            <a:solidFill>
              <a:schemeClr val="accent1"/>
            </a:solidFill>
            <a:prstDash val="solid"/>
          </a:ln>
        </p:spPr>
      </p:sp>
      <p:sp>
        <p:nvSpPr>
          <p:cNvPr id="5" name="Text 2"/>
          <p:cNvSpPr txBox="1"/>
          <p:nvPr/>
        </p:nvSpPr>
        <p:spPr>
          <a:xfrm>
            <a:off x="8366760" y="1554480"/>
            <a:ext cx="3108960" cy="41148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What we learnt</a:t>
            </a:r>
            <a:endParaRPr lang="en-US" sz="2000" dirty="0"/>
          </a:p>
        </p:txBody>
      </p:sp>
      <p:sp>
        <p:nvSpPr>
          <p:cNvPr id="6" name="Text 3"/>
          <p:cNvSpPr txBox="1"/>
          <p:nvPr/>
        </p:nvSpPr>
        <p:spPr>
          <a:xfrm>
            <a:off x="8366760" y="2103120"/>
            <a:ext cx="3108960" cy="32004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bg1"/>
                </a:solidFill>
              </a:rPr>
              <a:t>Test in small steps and read what the system tells you</a:t>
            </a:r>
            <a:endParaRPr lang="en-US" sz="1500" dirty="0"/>
          </a:p>
          <a:p>
            <a:pPr marL="342900" indent="-342900">
              <a:spcAft>
                <a:spcPts val="1200"/>
              </a:spcAft>
              <a:buSzPct val="100000"/>
              <a:buChar char="•"/>
            </a:pPr>
            <a:r>
              <a:rPr lang="en-US" sz="1500" dirty="0">
                <a:solidFill>
                  <a:schemeClr val="bg1"/>
                </a:solidFill>
              </a:rPr>
              <a:t>Prove a design in simulation before spending on parts</a:t>
            </a:r>
            <a:endParaRPr lang="en-US" sz="1500" dirty="0"/>
          </a:p>
          <a:p>
            <a:pPr marL="342900" indent="-342900">
              <a:spcAft>
                <a:spcPts val="1200"/>
              </a:spcAft>
              <a:buSzPct val="100000"/>
              <a:buChar char="•"/>
            </a:pPr>
            <a:r>
              <a:rPr lang="en-US" sz="1500" dirty="0">
                <a:solidFill>
                  <a:schemeClr val="bg1"/>
                </a:solidFill>
              </a:rPr>
              <a:t>Real limits (network, power, weather) shape the design</a:t>
            </a:r>
            <a:endParaRPr lang="en-US" sz="1500" dirty="0"/>
          </a:p>
          <a:p>
            <a:pPr marL="342900" indent="-342900">
              <a:spcAft>
                <a:spcPts val="1200"/>
              </a:spcAft>
              <a:buSzPct val="100000"/>
              <a:buChar char="•"/>
            </a:pPr>
            <a:r>
              <a:rPr lang="en-US" sz="1500" dirty="0">
                <a:solidFill>
                  <a:schemeClr val="bg1"/>
                </a:solidFill>
              </a:rPr>
              <a:t>Privacy is a design rule, not an afterthought</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868680"/>
            <a:ext cx="10698480" cy="822960"/>
          </a:xfrm>
          <a:prstGeom prst="rect">
            <a:avLst/>
          </a:prstGeom>
          <a:noFill/>
          <a:ln/>
        </p:spPr>
        <p:txBody>
          <a:bodyPr wrap="square" lIns="0" tIns="0" rIns="0" bIns="0" rtlCol="0" anchor="ctr"/>
          <a:lstStyle/>
          <a:p>
            <a:pPr marL="0" indent="0" algn="l">
              <a:buNone/>
            </a:pPr>
            <a:r>
              <a:rPr lang="en-US" sz="3800" b="1" dirty="0">
                <a:solidFill>
                  <a:schemeClr val="bg1"/>
                </a:solidFill>
              </a:rPr>
              <a:t>Outcome, next steps and thanks</a:t>
            </a:r>
            <a:endParaRPr lang="en-US" sz="3800" dirty="0"/>
          </a:p>
        </p:txBody>
      </p:sp>
      <p:sp>
        <p:nvSpPr>
          <p:cNvPr id="3" name="Text 0"/>
          <p:cNvSpPr>
            <a:spLocks noGrp="1"/>
          </p:cNvSpPr>
          <p:nvPr>
            <p:ph type="body" idx="100" hasCustomPrompt="1"/>
          </p:nvPr>
        </p:nvSpPr>
        <p:spPr>
          <a:xfrm>
            <a:off x="731520" y="411480"/>
            <a:ext cx="6583680" cy="365760"/>
          </a:xfrm>
          <a:prstGeom prst="rect">
            <a:avLst/>
          </a:prstGeom>
          <a:noFill/>
          <a:ln/>
        </p:spPr>
        <p:txBody>
          <a:bodyPr wrap="square" lIns="0" tIns="0" rIns="0" bIns="0" rtlCol="0"/>
          <a:lstStyle/>
          <a:p>
            <a:pPr marL="0" indent="0" algn="l">
              <a:buNone/>
            </a:pPr>
            <a:r>
              <a:rPr lang="en-US" sz="1600" b="1" dirty="0">
                <a:solidFill>
                  <a:schemeClr val="accent2"/>
                </a:solidFill>
              </a:rPr>
              <a:t>Group 15  |  SEER BHARAT</a:t>
            </a:r>
            <a:endParaRPr lang="en-US" sz="1600" dirty="0"/>
          </a:p>
        </p:txBody>
      </p:sp>
      <p:sp>
        <p:nvSpPr>
          <p:cNvPr id="4" name="outcome 1"/>
          <p:cNvSpPr/>
          <p:nvPr/>
        </p:nvSpPr>
        <p:spPr>
          <a:xfrm>
            <a:off x="731520" y="1920240"/>
            <a:ext cx="3474720" cy="3246120"/>
          </a:xfrm>
          <a:prstGeom prst="roundRect">
            <a:avLst>
              <a:gd name="adj" fmla="val 2254"/>
            </a:avLst>
          </a:prstGeom>
          <a:solidFill>
            <a:schemeClr val="bg1">
              <a:alpha val="94000"/>
            </a:schemeClr>
          </a:solidFill>
          <a:ln w="9525">
            <a:solidFill>
              <a:schemeClr val="bg1"/>
            </a:solidFill>
            <a:prstDash val="solid"/>
          </a:ln>
        </p:spPr>
      </p:sp>
      <p:sp>
        <p:nvSpPr>
          <p:cNvPr id="5" name="Text 3"/>
          <p:cNvSpPr txBox="1"/>
          <p:nvPr/>
        </p:nvSpPr>
        <p:spPr>
          <a:xfrm>
            <a:off x="960120" y="2103120"/>
            <a:ext cx="3017520" cy="411480"/>
          </a:xfrm>
          <a:prstGeom prst="rect">
            <a:avLst/>
          </a:prstGeom>
          <a:noFill/>
          <a:ln/>
        </p:spPr>
        <p:txBody>
          <a:bodyPr wrap="square" lIns="0" tIns="0" rIns="0" bIns="0" rtlCol="0" anchor="t"/>
          <a:lstStyle/>
          <a:p>
            <a:pPr marL="0" indent="0">
              <a:buNone/>
            </a:pPr>
            <a:r>
              <a:rPr lang="en-US" sz="2000" b="1" dirty="0">
                <a:solidFill>
                  <a:schemeClr val="accent4"/>
                </a:solidFill>
                <a:latin typeface="Cambria" pitchFamily="34" charset="0"/>
                <a:ea typeface="Cambria" pitchFamily="34" charset="-122"/>
                <a:cs typeface="Cambria" pitchFamily="34" charset="-120"/>
              </a:rPr>
              <a:t>Completed</a:t>
            </a:r>
            <a:endParaRPr lang="en-US" sz="2000" dirty="0"/>
          </a:p>
        </p:txBody>
      </p:sp>
      <p:sp>
        <p:nvSpPr>
          <p:cNvPr id="6" name="Text 4"/>
          <p:cNvSpPr txBox="1"/>
          <p:nvPr/>
        </p:nvSpPr>
        <p:spPr>
          <a:xfrm>
            <a:off x="960120" y="2651760"/>
            <a:ext cx="301752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Project topic and workflow settled with the NGO</a:t>
            </a:r>
            <a:endParaRPr lang="en-US" sz="1400" dirty="0"/>
          </a:p>
          <a:p>
            <a:pPr marL="342900" indent="-342900">
              <a:spcAft>
                <a:spcPts val="800"/>
              </a:spcAft>
              <a:buSzPct val="100000"/>
              <a:buChar char="•"/>
            </a:pPr>
            <a:r>
              <a:rPr lang="en-US" sz="1400" dirty="0">
                <a:solidFill>
                  <a:schemeClr val="tx1"/>
                </a:solidFill>
              </a:rPr>
              <a:t>Public app and Forest portal prototype</a:t>
            </a:r>
            <a:endParaRPr lang="en-US" sz="1400" dirty="0"/>
          </a:p>
          <a:p>
            <a:pPr marL="342900" indent="-342900">
              <a:spcAft>
                <a:spcPts val="800"/>
              </a:spcAft>
              <a:buSzPct val="100000"/>
              <a:buChar char="•"/>
            </a:pPr>
            <a:r>
              <a:rPr lang="en-US" sz="1400" dirty="0">
                <a:solidFill>
                  <a:schemeClr val="tx1"/>
                </a:solidFill>
              </a:rPr>
              <a:t>Simulated, reviewed node design with code</a:t>
            </a:r>
            <a:endParaRPr lang="en-US" sz="1400" dirty="0"/>
          </a:p>
          <a:p>
            <a:pPr marL="342900" indent="-342900">
              <a:spcAft>
                <a:spcPts val="800"/>
              </a:spcAft>
              <a:buSzPct val="100000"/>
              <a:buChar char="•"/>
            </a:pPr>
            <a:r>
              <a:rPr lang="en-US" sz="1400" dirty="0">
                <a:solidFill>
                  <a:schemeClr val="tx1"/>
                </a:solidFill>
              </a:rPr>
              <a:t>Manual, user guide, demo video, hardware guide</a:t>
            </a:r>
            <a:endParaRPr lang="en-US" sz="1400" dirty="0"/>
          </a:p>
        </p:txBody>
      </p:sp>
      <p:sp>
        <p:nvSpPr>
          <p:cNvPr id="7" name="outcome 2"/>
          <p:cNvSpPr/>
          <p:nvPr/>
        </p:nvSpPr>
        <p:spPr>
          <a:xfrm>
            <a:off x="4389120" y="1920240"/>
            <a:ext cx="3474720" cy="3246120"/>
          </a:xfrm>
          <a:prstGeom prst="roundRect">
            <a:avLst>
              <a:gd name="adj" fmla="val 2254"/>
            </a:avLst>
          </a:prstGeom>
          <a:solidFill>
            <a:schemeClr val="bg1">
              <a:alpha val="94000"/>
            </a:schemeClr>
          </a:solidFill>
          <a:ln w="9525">
            <a:solidFill>
              <a:schemeClr val="bg1"/>
            </a:solidFill>
            <a:prstDash val="solid"/>
          </a:ln>
        </p:spPr>
      </p:sp>
      <p:sp>
        <p:nvSpPr>
          <p:cNvPr id="8" name="Text 6"/>
          <p:cNvSpPr txBox="1"/>
          <p:nvPr/>
        </p:nvSpPr>
        <p:spPr>
          <a:xfrm>
            <a:off x="4617720" y="2103120"/>
            <a:ext cx="3017520" cy="411480"/>
          </a:xfrm>
          <a:prstGeom prst="rect">
            <a:avLst/>
          </a:prstGeom>
          <a:noFill/>
          <a:ln/>
        </p:spPr>
        <p:txBody>
          <a:bodyPr wrap="square" lIns="0" tIns="0" rIns="0" bIns="0" rtlCol="0" anchor="t"/>
          <a:lstStyle/>
          <a:p>
            <a:pPr marL="0" indent="0">
              <a:buNone/>
            </a:pPr>
            <a:r>
              <a:rPr lang="en-US" sz="2000" b="1" dirty="0">
                <a:solidFill>
                  <a:schemeClr val="accent4"/>
                </a:solidFill>
                <a:latin typeface="Cambria" pitchFamily="34" charset="0"/>
                <a:ea typeface="Cambria" pitchFamily="34" charset="-122"/>
                <a:cs typeface="Cambria" pitchFamily="34" charset="-120"/>
              </a:rPr>
              <a:t>Impact</a:t>
            </a:r>
            <a:endParaRPr lang="en-US" sz="2000" dirty="0"/>
          </a:p>
        </p:txBody>
      </p:sp>
      <p:sp>
        <p:nvSpPr>
          <p:cNvPr id="9" name="Text 7"/>
          <p:cNvSpPr txBox="1"/>
          <p:nvPr/>
        </p:nvSpPr>
        <p:spPr>
          <a:xfrm>
            <a:off x="4617720" y="2651760"/>
            <a:ext cx="301752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 clear path from detection to alert</a:t>
            </a:r>
            <a:endParaRPr lang="en-US" sz="1400" dirty="0"/>
          </a:p>
          <a:p>
            <a:pPr marL="342900" indent="-342900">
              <a:spcAft>
                <a:spcPts val="800"/>
              </a:spcAft>
              <a:buSzPct val="100000"/>
              <a:buChar char="•"/>
            </a:pPr>
            <a:r>
              <a:rPr lang="en-US" sz="1400" dirty="0">
                <a:solidFill>
                  <a:schemeClr val="tx1"/>
                </a:solidFill>
              </a:rPr>
              <a:t>Staff see located, verified reports</a:t>
            </a:r>
            <a:endParaRPr lang="en-US" sz="1400" dirty="0"/>
          </a:p>
          <a:p>
            <a:pPr marL="342900" indent="-342900">
              <a:spcAft>
                <a:spcPts val="800"/>
              </a:spcAft>
              <a:buSzPct val="100000"/>
              <a:buChar char="•"/>
            </a:pPr>
            <a:r>
              <a:rPr lang="en-US" sz="1400" dirty="0">
                <a:solidFill>
                  <a:schemeClr val="tx1"/>
                </a:solidFill>
              </a:rPr>
              <a:t>The public sees approximate zones only</a:t>
            </a:r>
            <a:endParaRPr lang="en-US" sz="1400" dirty="0"/>
          </a:p>
        </p:txBody>
      </p:sp>
      <p:sp>
        <p:nvSpPr>
          <p:cNvPr id="10" name="outcome 3"/>
          <p:cNvSpPr/>
          <p:nvPr/>
        </p:nvSpPr>
        <p:spPr>
          <a:xfrm>
            <a:off x="8046720" y="1920240"/>
            <a:ext cx="3474720" cy="3246120"/>
          </a:xfrm>
          <a:prstGeom prst="roundRect">
            <a:avLst>
              <a:gd name="adj" fmla="val 2254"/>
            </a:avLst>
          </a:prstGeom>
          <a:solidFill>
            <a:schemeClr val="bg1">
              <a:alpha val="94000"/>
            </a:schemeClr>
          </a:solidFill>
          <a:ln w="9525">
            <a:solidFill>
              <a:schemeClr val="bg1"/>
            </a:solidFill>
            <a:prstDash val="solid"/>
          </a:ln>
        </p:spPr>
      </p:sp>
      <p:sp>
        <p:nvSpPr>
          <p:cNvPr id="11" name="Text 9"/>
          <p:cNvSpPr txBox="1"/>
          <p:nvPr/>
        </p:nvSpPr>
        <p:spPr>
          <a:xfrm>
            <a:off x="8275320" y="2103120"/>
            <a:ext cx="3017520" cy="411480"/>
          </a:xfrm>
          <a:prstGeom prst="rect">
            <a:avLst/>
          </a:prstGeom>
          <a:noFill/>
          <a:ln/>
        </p:spPr>
        <p:txBody>
          <a:bodyPr wrap="square" lIns="0" tIns="0" rIns="0" bIns="0" rtlCol="0" anchor="t"/>
          <a:lstStyle/>
          <a:p>
            <a:pPr marL="0" indent="0">
              <a:buNone/>
            </a:pPr>
            <a:r>
              <a:rPr lang="en-US" sz="2000" b="1" dirty="0">
                <a:solidFill>
                  <a:schemeClr val="accent4"/>
                </a:solidFill>
                <a:latin typeface="Cambria" pitchFamily="34" charset="0"/>
                <a:ea typeface="Cambria" pitchFamily="34" charset="-122"/>
                <a:cs typeface="Cambria" pitchFamily="34" charset="-120"/>
              </a:rPr>
              <a:t>Next steps</a:t>
            </a:r>
            <a:endParaRPr lang="en-US" sz="2000" dirty="0"/>
          </a:p>
        </p:txBody>
      </p:sp>
      <p:sp>
        <p:nvSpPr>
          <p:cNvPr id="12" name="Text 10"/>
          <p:cNvSpPr txBox="1"/>
          <p:nvPr/>
        </p:nvSpPr>
        <p:spPr>
          <a:xfrm>
            <a:off x="8275320" y="2651760"/>
            <a:ext cx="301752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Build and field-test a physical node</a:t>
            </a:r>
            <a:endParaRPr lang="en-US" sz="1400" dirty="0"/>
          </a:p>
          <a:p>
            <a:pPr marL="342900" indent="-342900">
              <a:spcAft>
                <a:spcPts val="800"/>
              </a:spcAft>
              <a:buSzPct val="100000"/>
              <a:buChar char="•"/>
            </a:pPr>
            <a:r>
              <a:rPr lang="en-US" sz="1400" dirty="0">
                <a:solidFill>
                  <a:schemeClr val="tx1"/>
                </a:solidFill>
              </a:rPr>
              <a:t>Train the model on real forest data</a:t>
            </a:r>
            <a:endParaRPr lang="en-US" sz="1400" dirty="0"/>
          </a:p>
          <a:p>
            <a:pPr marL="342900" indent="-342900">
              <a:spcAft>
                <a:spcPts val="800"/>
              </a:spcAft>
              <a:buSzPct val="100000"/>
              <a:buChar char="•"/>
            </a:pPr>
            <a:r>
              <a:rPr lang="en-US" sz="1400" dirty="0">
                <a:solidFill>
                  <a:schemeClr val="tx1"/>
                </a:solidFill>
              </a:rPr>
              <a:t>Finish and test the LoRa and SMS chain</a:t>
            </a:r>
            <a:endParaRPr lang="en-US" sz="1400" dirty="0"/>
          </a:p>
          <a:p>
            <a:pPr marL="342900" indent="-342900">
              <a:spcAft>
                <a:spcPts val="800"/>
              </a:spcAft>
              <a:buSzPct val="100000"/>
              <a:buChar char="•"/>
            </a:pPr>
            <a:r>
              <a:rPr lang="en-US" sz="1400" dirty="0">
                <a:solidFill>
                  <a:schemeClr val="tx1"/>
                </a:solidFill>
              </a:rPr>
              <a:t>A live server with secure accounts</a:t>
            </a:r>
            <a:endParaRPr lang="en-US" sz="1400" dirty="0"/>
          </a:p>
        </p:txBody>
      </p:sp>
      <p:sp>
        <p:nvSpPr>
          <p:cNvPr id="13" name="thanks box"/>
          <p:cNvSpPr/>
          <p:nvPr/>
        </p:nvSpPr>
        <p:spPr>
          <a:xfrm>
            <a:off x="731520" y="5440680"/>
            <a:ext cx="10789920" cy="868680"/>
          </a:xfrm>
          <a:prstGeom prst="roundRect">
            <a:avLst>
              <a:gd name="adj" fmla="val 8421"/>
            </a:avLst>
          </a:prstGeom>
          <a:solidFill>
            <a:schemeClr val="accent3">
              <a:alpha val="45000"/>
            </a:schemeClr>
          </a:solidFill>
          <a:ln w="9525">
            <a:solidFill>
              <a:schemeClr val="accent3"/>
            </a:solidFill>
            <a:prstDash val="solid"/>
          </a:ln>
        </p:spPr>
      </p:sp>
      <p:sp>
        <p:nvSpPr>
          <p:cNvPr id="14" name="Text 12"/>
          <p:cNvSpPr txBox="1"/>
          <p:nvPr/>
        </p:nvSpPr>
        <p:spPr>
          <a:xfrm>
            <a:off x="960120" y="5440680"/>
            <a:ext cx="10332720" cy="868680"/>
          </a:xfrm>
          <a:prstGeom prst="rect">
            <a:avLst/>
          </a:prstGeom>
          <a:noFill/>
          <a:ln/>
        </p:spPr>
        <p:txBody>
          <a:bodyPr wrap="square" lIns="0" tIns="0" rIns="0" bIns="0" rtlCol="0" anchor="ctr"/>
          <a:lstStyle/>
          <a:p>
            <a:pPr marL="0" indent="0">
              <a:buNone/>
            </a:pPr>
            <a:r>
              <a:rPr lang="en-US" sz="1500" b="1" dirty="0">
                <a:solidFill>
                  <a:schemeClr val="accent2"/>
                </a:solidFill>
              </a:rPr>
              <a:t>Thank you  </a:t>
            </a:r>
            <a:r>
              <a:rPr lang="en-US" sz="1500" dirty="0">
                <a:solidFill>
                  <a:schemeClr val="bg1"/>
                </a:solidFill>
              </a:rPr>
              <a:t>Mr. Darshan Talhande (Founder, SEER BHARAT Foundation), Dr. Aditi Saxena (Faculty coordinator) and our teammates. Questions welcome.</a:t>
            </a:r>
            <a:endParaRPr lang="en-US" sz="1500" dirty="0"/>
          </a:p>
        </p:txBody>
      </p:sp>
    </p:spTree>
  </p:cSld>
  <p:clrMapOvr>
    <a:masterClrMapping/>
  </p:clrMapOvr>
</p:sld>
</file>

<file path=ppt/theme/theme1.xml><?xml version="1.0" encoding="utf-8"?>
<a:theme xmlns:a="http://schemas.openxmlformats.org/drawingml/2006/main" name="SEER Bharat Group 15">
  <a:themeElements>
    <a:clrScheme name="SEER Bharat Group 15">
      <a:dk1>
        <a:srgbClr val="16241D"/>
      </a:dk1>
      <a:lt1>
        <a:srgbClr val="FFFFFF"/>
      </a:lt1>
      <a:dk2>
        <a:srgbClr val="1F4D3A"/>
      </a:dk2>
      <a:lt2>
        <a:srgbClr val="EDF3EE"/>
      </a:lt2>
      <a:accent1>
        <a:srgbClr val="1F4D3A"/>
      </a:accent1>
      <a:accent2>
        <a:srgbClr val="D98E04"/>
      </a:accent2>
      <a:accent3>
        <a:srgbClr val="5E8C6A"/>
      </a:accent3>
      <a:accent4>
        <a:srgbClr val="B5432F"/>
      </a:accent4>
      <a:accent5>
        <a:srgbClr val="3C7A89"/>
      </a:accent5>
      <a:accent6>
        <a:srgbClr val="6F7F76"/>
      </a:accent6>
      <a:hlink>
        <a:srgbClr val="3C7A89"/>
      </a:hlink>
      <a:folHlink>
        <a:srgbClr val="6F7F76"/>
      </a:folHlink>
    </a:clrScheme>
    <a:fontScheme name="SEER Bharat Group 15">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SEER Bharat Group 15</vt:lpstr>
      <vt:lpstr>SEER BHARAT: an early-warning prototype for forest-edge villages</vt:lpstr>
      <vt:lpstr>Our project and who did what</vt:lpstr>
      <vt:lpstr>The NGO and the problem we picked</vt:lpstr>
      <vt:lpstr>Fourteen weeks, start to finish</vt:lpstr>
      <vt:lpstr>How the system works</vt:lpstr>
      <vt:lpstr>Who benefits, and why it matters</vt:lpstr>
      <vt:lpstr>Screens for residents and forest staff</vt:lpstr>
      <vt:lpstr>Choosing the hardware</vt:lpstr>
      <vt:lpstr>Circuit and solar power design</vt:lpstr>
      <vt:lpstr>Firmware and the fusion score</vt:lpstr>
      <vt:lpstr>What the tests showed</vt:lpstr>
      <vt:lpstr>Protecting animals, people and data</vt:lpstr>
      <vt:lpstr>Challenges and how we handled them</vt:lpstr>
      <vt:lpstr>Outcome, next steps and thanks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SEER BHARAT - Group 15 - Service Learning 2026-27</dc:title>
  <dc:subject>PptxGenJS Presentation</dc:subject>
  <dc:creator>Group 15</dc:creator>
  <cp:lastModifiedBy>Group 15</cp:lastModifiedBy>
  <cp:revision>14</cp:revision>
  <dcterms:created xsi:type="dcterms:W3CDTF">2026-10-18T04:26:28Z</dcterms:created>
  <dcterms:modified xsi:type="dcterms:W3CDTF">2026-10-18T04:34:02Z</dcterms:modified>
</cp:coreProperties>
</file>